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Montserrat SemiBold"/>
      <p:regular r:id="rId21"/>
      <p:bold r:id="rId22"/>
      <p:italic r:id="rId23"/>
      <p:boldItalic r:id="rId24"/>
    </p:embeddedFont>
    <p:embeddedFont>
      <p:font typeface="Inter SemiBold"/>
      <p:regular r:id="rId25"/>
      <p:bold r:id="rId26"/>
      <p:italic r:id="rId27"/>
      <p:boldItalic r:id="rId28"/>
    </p:embeddedFont>
    <p:embeddedFont>
      <p:font typeface="Montserrat"/>
      <p:bold r:id="rId29"/>
      <p:boldItalic r:id="rId30"/>
    </p:embeddedFont>
    <p:embeddedFont>
      <p:font typeface="Inter"/>
      <p:regular r:id="rId31"/>
      <p:bold r:id="rId32"/>
      <p:italic r:id="rId33"/>
      <p:boldItalic r:id="rId34"/>
    </p:embeddedFont>
    <p:embeddedFont>
      <p:font typeface="Montserrat ExtraBold"/>
      <p:bold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MontserratSemiBold-bold.fntdata"/><Relationship Id="rId21" Type="http://schemas.openxmlformats.org/officeDocument/2006/relationships/font" Target="fonts/MontserratSemiBold-regular.fntdata"/><Relationship Id="rId24" Type="http://schemas.openxmlformats.org/officeDocument/2006/relationships/font" Target="fonts/MontserratSemiBold-boldItalic.fntdata"/><Relationship Id="rId23" Type="http://schemas.openxmlformats.org/officeDocument/2006/relationships/font" Target="fonts/MontserratSemiBold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SemiBold-bold.fntdata"/><Relationship Id="rId25" Type="http://schemas.openxmlformats.org/officeDocument/2006/relationships/font" Target="fonts/InterSemiBold-regular.fntdata"/><Relationship Id="rId28" Type="http://schemas.openxmlformats.org/officeDocument/2006/relationships/font" Target="fonts/InterSemiBold-boldItalic.fntdata"/><Relationship Id="rId27" Type="http://schemas.openxmlformats.org/officeDocument/2006/relationships/font" Target="fonts/InterSemiBold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nter-regular.fntdata"/><Relationship Id="rId30" Type="http://schemas.openxmlformats.org/officeDocument/2006/relationships/font" Target="fonts/Montserrat-boldItalic.fntdata"/><Relationship Id="rId11" Type="http://schemas.openxmlformats.org/officeDocument/2006/relationships/slide" Target="slides/slide6.xml"/><Relationship Id="rId33" Type="http://schemas.openxmlformats.org/officeDocument/2006/relationships/font" Target="fonts/Inter-italic.fntdata"/><Relationship Id="rId10" Type="http://schemas.openxmlformats.org/officeDocument/2006/relationships/slide" Target="slides/slide5.xml"/><Relationship Id="rId32" Type="http://schemas.openxmlformats.org/officeDocument/2006/relationships/font" Target="fonts/Inter-bold.fntdata"/><Relationship Id="rId13" Type="http://schemas.openxmlformats.org/officeDocument/2006/relationships/slide" Target="slides/slide8.xml"/><Relationship Id="rId35" Type="http://schemas.openxmlformats.org/officeDocument/2006/relationships/font" Target="fonts/MontserratExtraBold-bold.fntdata"/><Relationship Id="rId12" Type="http://schemas.openxmlformats.org/officeDocument/2006/relationships/slide" Target="slides/slide7.xml"/><Relationship Id="rId34" Type="http://schemas.openxmlformats.org/officeDocument/2006/relationships/font" Target="fonts/Inter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schemas.openxmlformats.org/officeDocument/2006/relationships/font" Target="fonts/MontserratExtraBold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f69fafa5a3_0_9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f69fafa5a3_0_9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f989e26a5f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f989e26a5f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f989e26a5f_0_3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f989e26a5f_0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989e26a5f_0_4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f989e26a5f_0_4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f6dffa782b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f6dffa782b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f98cabc658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f98cabc658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f69fafa5a3_0_16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f69fafa5a3_0_16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f98cabc658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f98cabc658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f69fafa5a3_0_18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f69fafa5a3_0_18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f98cabc658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f98cabc658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f98cabc658_0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f98cabc658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f6aaeec239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f6aaeec239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f6aaeec239_0_4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f6aaeec239_0_4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f74ed13fae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f74ed13fae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f74ed13fae_0_2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f74ed13fae_0_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989e26a5f_14_0)">
  <p:cSld name="Generated (g3f989e26a5f_14_0)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0" y="0"/>
            <a:ext cx="9144000" cy="857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4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4"/>
          <p:cNvSpPr/>
          <p:nvPr/>
        </p:nvSpPr>
        <p:spPr>
          <a:xfrm>
            <a:off x="762000" y="1428750"/>
            <a:ext cx="57300" cy="2286000"/>
          </a:xfrm>
          <a:prstGeom prst="roundRect">
            <a:avLst>
              <a:gd fmla="val 50000" name="adj"/>
            </a:avLst>
          </a:prstGeom>
          <a:solidFill>
            <a:srgbClr val="38BD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4"/>
          <p:cNvSpPr txBox="1"/>
          <p:nvPr/>
        </p:nvSpPr>
        <p:spPr>
          <a:xfrm>
            <a:off x="1047750" y="1428750"/>
            <a:ext cx="73344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Data Analytics Report</a:t>
            </a:r>
            <a:endParaRPr b="1" sz="1400">
              <a:solidFill>
                <a:srgbClr val="38BDF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" sz="44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Bike Sharing Demand Analysis</a:t>
            </a:r>
            <a:endParaRPr b="0" sz="440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0" lang="en" sz="16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Understanding Rental Patterns to Improve Operational Efficiency</a:t>
            </a:r>
            <a:endParaRPr b="0" sz="16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8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5"/>
          <p:cNvSpPr/>
          <p:nvPr/>
        </p:nvSpPr>
        <p:spPr>
          <a:xfrm>
            <a:off x="0" y="0"/>
            <a:ext cx="9144000" cy="857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4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5"/>
          <p:cNvSpPr txBox="1"/>
          <p:nvPr/>
        </p:nvSpPr>
        <p:spPr>
          <a:xfrm>
            <a:off x="571500" y="428625"/>
            <a:ext cx="42864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98">
              <a:solidFill>
                <a:srgbClr val="0EA5E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Background &amp; Objective</a:t>
            </a:r>
            <a:endParaRPr b="0" sz="240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grpSp>
        <p:nvGrpSpPr>
          <p:cNvPr id="66" name="Google Shape;66;p15"/>
          <p:cNvGrpSpPr/>
          <p:nvPr/>
        </p:nvGrpSpPr>
        <p:grpSpPr>
          <a:xfrm>
            <a:off x="571500" y="1238250"/>
            <a:ext cx="4381500" cy="1619100"/>
            <a:chOff x="0" y="0"/>
            <a:chExt cx="4381500" cy="1619100"/>
          </a:xfrm>
        </p:grpSpPr>
        <p:sp>
          <p:nvSpPr>
            <p:cNvPr id="67" name="Google Shape;67;p15"/>
            <p:cNvSpPr/>
            <p:nvPr/>
          </p:nvSpPr>
          <p:spPr>
            <a:xfrm>
              <a:off x="0" y="0"/>
              <a:ext cx="4381500" cy="1619100"/>
            </a:xfrm>
            <a:prstGeom prst="roundRect">
              <a:avLst>
                <a:gd fmla="val 7058" name="adj"/>
              </a:avLst>
            </a:prstGeom>
            <a:solidFill>
              <a:srgbClr val="1E293B">
                <a:alpha val="50000"/>
              </a:srgbClr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5"/>
            <p:cNvSpPr/>
            <p:nvPr/>
          </p:nvSpPr>
          <p:spPr>
            <a:xfrm>
              <a:off x="0" y="0"/>
              <a:ext cx="38100" cy="1619100"/>
            </a:xfrm>
            <a:prstGeom prst="roundRect">
              <a:avLst>
                <a:gd fmla="val 50000" name="adj"/>
              </a:avLst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15"/>
            <p:cNvSpPr txBox="1"/>
            <p:nvPr/>
          </p:nvSpPr>
          <p:spPr>
            <a:xfrm>
              <a:off x="228600" y="190500"/>
              <a:ext cx="39243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38BDF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Background</a:t>
              </a:r>
              <a:endParaRPr b="1" sz="1500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As urban mobility shifts toward sustainable options, bike-sharing systems like Washington D.C.'s Capital Bikeshare face heavy, unpredictable demand fluctuations driven by weather, seasons, and hourly routines.</a:t>
              </a:r>
              <a:endParaRPr b="0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0" name="Google Shape;70;p15"/>
          <p:cNvGrpSpPr/>
          <p:nvPr/>
        </p:nvGrpSpPr>
        <p:grpSpPr>
          <a:xfrm>
            <a:off x="571500" y="3000375"/>
            <a:ext cx="4381500" cy="1762200"/>
            <a:chOff x="0" y="0"/>
            <a:chExt cx="4381500" cy="1762200"/>
          </a:xfrm>
        </p:grpSpPr>
        <p:sp>
          <p:nvSpPr>
            <p:cNvPr id="71" name="Google Shape;71;p15"/>
            <p:cNvSpPr/>
            <p:nvPr/>
          </p:nvSpPr>
          <p:spPr>
            <a:xfrm>
              <a:off x="0" y="0"/>
              <a:ext cx="4381500" cy="1762200"/>
            </a:xfrm>
            <a:prstGeom prst="roundRect">
              <a:avLst>
                <a:gd fmla="val 6486" name="adj"/>
              </a:avLst>
            </a:prstGeom>
            <a:solidFill>
              <a:srgbClr val="1E293B">
                <a:alpha val="50000"/>
              </a:srgbClr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5"/>
            <p:cNvSpPr/>
            <p:nvPr/>
          </p:nvSpPr>
          <p:spPr>
            <a:xfrm>
              <a:off x="0" y="0"/>
              <a:ext cx="38100" cy="1762200"/>
            </a:xfrm>
            <a:prstGeom prst="roundRect">
              <a:avLst>
                <a:gd fmla="val 50000" name="adj"/>
              </a:avLst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5"/>
            <p:cNvSpPr txBox="1"/>
            <p:nvPr/>
          </p:nvSpPr>
          <p:spPr>
            <a:xfrm>
              <a:off x="228600" y="190500"/>
              <a:ext cx="3924300" cy="138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38BDF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Objective</a:t>
              </a:r>
              <a:endParaRPr b="1" sz="1500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Analyze historical rental transactions to uncover environmental and temporal behavior patterns. The insights will directly support data-driven bicycle distribution, improve fleet utilization, and reduce operational costs.</a:t>
              </a:r>
              <a:endParaRPr b="0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74" name="Google Shape;74;p15"/>
          <p:cNvPicPr preferRelativeResize="0"/>
          <p:nvPr/>
        </p:nvPicPr>
        <p:blipFill rotWithShape="1">
          <a:blip r:embed="rId4">
            <a:alphaModFix/>
          </a:blip>
          <a:srcRect b="25490" l="0" r="0" t="0"/>
          <a:stretch/>
        </p:blipFill>
        <p:spPr>
          <a:xfrm>
            <a:off x="5334000" y="928688"/>
            <a:ext cx="3238500" cy="1809600"/>
          </a:xfrm>
          <a:prstGeom prst="roundRect">
            <a:avLst>
              <a:gd fmla="val 6315" name="adj"/>
            </a:avLst>
          </a:prstGeom>
          <a:noFill/>
          <a:ln>
            <a:noFill/>
          </a:ln>
        </p:spPr>
      </p:pic>
      <p:grpSp>
        <p:nvGrpSpPr>
          <p:cNvPr id="75" name="Google Shape;75;p15"/>
          <p:cNvGrpSpPr/>
          <p:nvPr/>
        </p:nvGrpSpPr>
        <p:grpSpPr>
          <a:xfrm>
            <a:off x="5334000" y="3190875"/>
            <a:ext cx="3238500" cy="1571700"/>
            <a:chOff x="0" y="0"/>
            <a:chExt cx="3238500" cy="1571700"/>
          </a:xfrm>
        </p:grpSpPr>
        <p:sp>
          <p:nvSpPr>
            <p:cNvPr id="76" name="Google Shape;76;p15"/>
            <p:cNvSpPr/>
            <p:nvPr/>
          </p:nvSpPr>
          <p:spPr>
            <a:xfrm>
              <a:off x="0" y="0"/>
              <a:ext cx="3238500" cy="1571700"/>
            </a:xfrm>
            <a:prstGeom prst="roundRect">
              <a:avLst>
                <a:gd fmla="val 7272" name="adj"/>
              </a:avLst>
            </a:prstGeom>
            <a:solidFill>
              <a:srgbClr val="0F172A">
                <a:alpha val="90000"/>
              </a:srgbClr>
            </a:solidFill>
            <a:ln cap="flat" cmpd="sng" w="14300">
              <a:solidFill>
                <a:srgbClr val="0EA5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5"/>
            <p:cNvSpPr/>
            <p:nvPr/>
          </p:nvSpPr>
          <p:spPr>
            <a:xfrm>
              <a:off x="0" y="0"/>
              <a:ext cx="38100" cy="1571700"/>
            </a:xfrm>
            <a:prstGeom prst="roundRect">
              <a:avLst>
                <a:gd fmla="val 50000" name="adj"/>
              </a:avLst>
            </a:prstGeom>
            <a:solidFill>
              <a:srgbClr val="0EA5E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5"/>
            <p:cNvSpPr txBox="1"/>
            <p:nvPr/>
          </p:nvSpPr>
          <p:spPr>
            <a:xfrm>
              <a:off x="228600" y="190500"/>
              <a:ext cx="2781300" cy="11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0EA5E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Key Takeaway</a:t>
              </a:r>
              <a:endParaRPr b="1" sz="900">
                <a:solidFill>
                  <a:srgbClr val="0EA5E9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Data-driven fleet balancing is critical</a:t>
              </a:r>
              <a:endParaRPr b="1" sz="13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Solving localized shortages &amp; excess inventory through predictive demand insights.</a:t>
              </a:r>
              <a:endParaRPr b="0" sz="10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6"/>
          <p:cNvSpPr/>
          <p:nvPr/>
        </p:nvSpPr>
        <p:spPr>
          <a:xfrm>
            <a:off x="0" y="0"/>
            <a:ext cx="9144000" cy="857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4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6"/>
          <p:cNvSpPr txBox="1"/>
          <p:nvPr/>
        </p:nvSpPr>
        <p:spPr>
          <a:xfrm>
            <a:off x="571500" y="428625"/>
            <a:ext cx="47625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Analytical Questions &amp; KPIs</a:t>
            </a:r>
            <a:endParaRPr b="0" sz="240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grpSp>
        <p:nvGrpSpPr>
          <p:cNvPr id="86" name="Google Shape;86;p16"/>
          <p:cNvGrpSpPr/>
          <p:nvPr/>
        </p:nvGrpSpPr>
        <p:grpSpPr>
          <a:xfrm>
            <a:off x="476250" y="1285875"/>
            <a:ext cx="3048000" cy="3476700"/>
            <a:chOff x="0" y="0"/>
            <a:chExt cx="3048000" cy="3476700"/>
          </a:xfrm>
        </p:grpSpPr>
        <p:sp>
          <p:nvSpPr>
            <p:cNvPr id="87" name="Google Shape;87;p16"/>
            <p:cNvSpPr/>
            <p:nvPr/>
          </p:nvSpPr>
          <p:spPr>
            <a:xfrm>
              <a:off x="0" y="0"/>
              <a:ext cx="3048000" cy="3476700"/>
            </a:xfrm>
            <a:prstGeom prst="roundRect">
              <a:avLst>
                <a:gd fmla="val 3750" name="adj"/>
              </a:avLst>
            </a:prstGeom>
            <a:solidFill>
              <a:srgbClr val="1E293B">
                <a:alpha val="60000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6"/>
            <p:cNvSpPr txBox="1"/>
            <p:nvPr/>
          </p:nvSpPr>
          <p:spPr>
            <a:xfrm>
              <a:off x="190500" y="190500"/>
              <a:ext cx="2667000" cy="309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38BDF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Analytical Questions</a:t>
              </a:r>
              <a:endParaRPr b="1" sz="1300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28257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94A3B8"/>
                </a:buClr>
                <a:buSzPts val="850"/>
                <a:buFont typeface="Inter"/>
                <a:buAutoNum type="arabicPeriod"/>
              </a:pPr>
              <a:r>
                <a:rPr lang="en" sz="8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During the 2012 period, which hours, days, and seasons recorded the highest average bike rentals?</a:t>
              </a:r>
              <a:endParaRPr sz="8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2575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94A3B8"/>
                </a:buClr>
                <a:buSzPts val="850"/>
                <a:buFont typeface="Inter"/>
                <a:buAutoNum type="arabicPeriod"/>
              </a:pPr>
              <a:r>
                <a:rPr lang="en" sz="8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How did monthly rental demand change throughout the 2012 period?</a:t>
              </a:r>
              <a:endParaRPr sz="8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2575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94A3B8"/>
                </a:buClr>
                <a:buSzPts val="850"/>
                <a:buFont typeface="Inter"/>
                <a:buAutoNum type="arabicPeriod"/>
              </a:pPr>
              <a:r>
                <a:rPr lang="en" sz="8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How did average bike rentals differ across weather conditions during 2012?</a:t>
              </a:r>
              <a:endParaRPr sz="8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2575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94A3B8"/>
                </a:buClr>
                <a:buSzPts val="850"/>
                <a:buFont typeface="Inter"/>
                <a:buAutoNum type="arabicPeriod"/>
              </a:pPr>
              <a:r>
                <a:rPr lang="en" sz="8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Which weather-related factor (temperature, humidity, or wind speed) had the strongest relationship with rental demand?</a:t>
              </a:r>
              <a:endParaRPr sz="8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2575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94A3B8"/>
                </a:buClr>
                <a:buSzPts val="850"/>
                <a:buFont typeface="Inter"/>
                <a:buAutoNum type="arabicPeriod"/>
              </a:pPr>
              <a:r>
                <a:rPr lang="en" sz="8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How did rental patterns differ between casual and registered users during 2012?</a:t>
              </a:r>
              <a:endParaRPr sz="8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2575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94A3B8"/>
                </a:buClr>
                <a:buSzPts val="850"/>
                <a:buFont typeface="Inter"/>
                <a:buAutoNum type="arabicPeriod"/>
              </a:pPr>
              <a:r>
                <a:rPr lang="en" sz="8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Which user segment contributed the largest share of total rentals over the two-year period?</a:t>
              </a:r>
              <a:endParaRPr sz="8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t/>
              </a:r>
              <a:endParaRPr b="0" sz="8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89" name="Google Shape;89;p16"/>
          <p:cNvGrpSpPr/>
          <p:nvPr/>
        </p:nvGrpSpPr>
        <p:grpSpPr>
          <a:xfrm>
            <a:off x="3714750" y="1285875"/>
            <a:ext cx="2381400" cy="3476700"/>
            <a:chOff x="0" y="0"/>
            <a:chExt cx="2381400" cy="3476700"/>
          </a:xfrm>
        </p:grpSpPr>
        <p:sp>
          <p:nvSpPr>
            <p:cNvPr id="90" name="Google Shape;90;p16"/>
            <p:cNvSpPr/>
            <p:nvPr/>
          </p:nvSpPr>
          <p:spPr>
            <a:xfrm>
              <a:off x="0" y="0"/>
              <a:ext cx="2381400" cy="3476700"/>
            </a:xfrm>
            <a:prstGeom prst="roundRect">
              <a:avLst>
                <a:gd fmla="val 4800" name="adj"/>
              </a:avLst>
            </a:prstGeom>
            <a:solidFill>
              <a:srgbClr val="1E293B">
                <a:alpha val="60000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6"/>
            <p:cNvSpPr txBox="1"/>
            <p:nvPr/>
          </p:nvSpPr>
          <p:spPr>
            <a:xfrm>
              <a:off x="190500" y="190500"/>
              <a:ext cx="2000100" cy="309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38BDF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Key KPIs</a:t>
              </a:r>
              <a:endParaRPr b="1" sz="1300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2857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94A3B8"/>
                </a:buClr>
                <a:buSzPts val="900"/>
                <a:buFont typeface="Inter"/>
                <a:buChar char="●"/>
              </a:pPr>
              <a:r>
                <a:rPr b="0" lang="en" sz="90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Total Rentals</a:t>
              </a:r>
              <a:endParaRPr b="0" sz="9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575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94A3B8"/>
                </a:buClr>
                <a:buSzPts val="900"/>
                <a:buFont typeface="Inter"/>
                <a:buChar char="●"/>
              </a:pPr>
              <a:r>
                <a:rPr b="0" lang="en" sz="90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Average Rentals </a:t>
              </a:r>
              <a:endParaRPr b="0" sz="9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575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94A3B8"/>
                </a:buClr>
                <a:buSzPts val="900"/>
                <a:buFont typeface="Inter"/>
                <a:buChar char="●"/>
              </a:pPr>
              <a:r>
                <a:rPr b="0" lang="en" sz="90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Rental Difference </a:t>
              </a:r>
              <a:r>
                <a:rPr b="0" lang="en" sz="90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by Weather</a:t>
              </a:r>
              <a:endParaRPr b="0" sz="9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575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94A3B8"/>
                </a:buClr>
                <a:buSzPts val="900"/>
                <a:buFont typeface="Inter"/>
                <a:buChar char="●"/>
              </a:pPr>
              <a:r>
                <a:rPr b="0" lang="en" sz="90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Registered User Ratio (%)</a:t>
              </a:r>
              <a:endParaRPr b="0" sz="9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575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94A3B8"/>
                </a:buClr>
                <a:buSzPts val="900"/>
                <a:buFont typeface="Inter"/>
                <a:buChar char="●"/>
              </a:pPr>
              <a:r>
                <a:rPr b="0" lang="en" sz="90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Casual User Ratio (%)</a:t>
              </a:r>
              <a:endParaRPr b="0" sz="9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5750" lvl="0" marL="457200" rtl="0" algn="l">
                <a:spcBef>
                  <a:spcPts val="750"/>
                </a:spcBef>
                <a:spcAft>
                  <a:spcPts val="750"/>
                </a:spcAft>
                <a:buClr>
                  <a:srgbClr val="94A3B8"/>
                </a:buClr>
                <a:buSzPts val="900"/>
                <a:buFont typeface="Inter"/>
                <a:buChar char="●"/>
              </a:pPr>
              <a:r>
                <a:rPr b="0" lang="en" sz="90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Monthly Rental Trend</a:t>
              </a:r>
              <a:endParaRPr b="0" sz="9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92" name="Google Shape;92;p16"/>
          <p:cNvGrpSpPr/>
          <p:nvPr/>
        </p:nvGrpSpPr>
        <p:grpSpPr>
          <a:xfrm>
            <a:off x="6286500" y="1285875"/>
            <a:ext cx="2381400" cy="3476700"/>
            <a:chOff x="0" y="0"/>
            <a:chExt cx="2381400" cy="3476700"/>
          </a:xfrm>
        </p:grpSpPr>
        <p:sp>
          <p:nvSpPr>
            <p:cNvPr id="93" name="Google Shape;93;p16"/>
            <p:cNvSpPr/>
            <p:nvPr/>
          </p:nvSpPr>
          <p:spPr>
            <a:xfrm>
              <a:off x="0" y="0"/>
              <a:ext cx="2381400" cy="3476700"/>
            </a:xfrm>
            <a:prstGeom prst="roundRect">
              <a:avLst>
                <a:gd fmla="val 4800" name="adj"/>
              </a:avLst>
            </a:prstGeom>
            <a:solidFill>
              <a:srgbClr val="1E293B">
                <a:alpha val="60000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6"/>
            <p:cNvSpPr txBox="1"/>
            <p:nvPr/>
          </p:nvSpPr>
          <p:spPr>
            <a:xfrm>
              <a:off x="190500" y="190500"/>
              <a:ext cx="2000100" cy="309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38BDF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Additional Tasks</a:t>
              </a:r>
              <a:endParaRPr b="1" sz="1300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Develop a demand grouping based on predefined business rules to categorize hourly rental demand and support better bike availability planning and operational decisions. A clear classification of hourly rental periods into Low, Medium, and High Demand, supported by visualizations and summary statistics.</a:t>
              </a:r>
              <a:endParaRPr sz="9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7"/>
          <p:cNvSpPr/>
          <p:nvPr/>
        </p:nvSpPr>
        <p:spPr>
          <a:xfrm>
            <a:off x="0" y="0"/>
            <a:ext cx="9144000" cy="857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4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7"/>
          <p:cNvSpPr txBox="1"/>
          <p:nvPr/>
        </p:nvSpPr>
        <p:spPr>
          <a:xfrm>
            <a:off x="476250" y="381000"/>
            <a:ext cx="81915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1. During the 2012 period, which hours, days, and seasons recorded the highest average bike rentals?</a:t>
            </a:r>
            <a:endParaRPr b="0" sz="160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40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Average Rentals by Hours</a:t>
            </a:r>
            <a:endParaRPr b="1" sz="1240">
              <a:solidFill>
                <a:srgbClr val="38BDF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" name="Google Shape;102;p17"/>
          <p:cNvSpPr/>
          <p:nvPr/>
        </p:nvSpPr>
        <p:spPr>
          <a:xfrm>
            <a:off x="381000" y="1285875"/>
            <a:ext cx="5143500" cy="3429000"/>
          </a:xfrm>
          <a:prstGeom prst="roundRect">
            <a:avLst>
              <a:gd fmla="val 3333" name="adj"/>
            </a:avLst>
          </a:prstGeom>
          <a:solidFill>
            <a:srgbClr val="1E293B">
              <a:alpha val="40000"/>
            </a:srgbClr>
          </a:solidFill>
          <a:ln cap="flat" cmpd="sng" w="143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7"/>
          <p:cNvSpPr/>
          <p:nvPr/>
        </p:nvSpPr>
        <p:spPr>
          <a:xfrm>
            <a:off x="5715000" y="1285875"/>
            <a:ext cx="3048000" cy="1857300"/>
          </a:xfrm>
          <a:prstGeom prst="roundRect">
            <a:avLst>
              <a:gd fmla="val 6153" name="adj"/>
            </a:avLst>
          </a:prstGeom>
          <a:solidFill>
            <a:srgbClr val="1E293B">
              <a:alpha val="60000"/>
            </a:srgbClr>
          </a:solidFill>
          <a:ln cap="flat" cmpd="sng" w="143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7"/>
          <p:cNvSpPr txBox="1"/>
          <p:nvPr/>
        </p:nvSpPr>
        <p:spPr>
          <a:xfrm>
            <a:off x="5905500" y="1428750"/>
            <a:ext cx="2667000" cy="15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38BDF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" sz="10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Rental demand </a:t>
            </a:r>
            <a:r>
              <a:rPr b="1" lang="en" sz="1050">
                <a:solidFill>
                  <a:srgbClr val="22C55E"/>
                </a:solidFill>
                <a:latin typeface="Inter"/>
                <a:ea typeface="Inter"/>
                <a:cs typeface="Inter"/>
                <a:sym typeface="Inter"/>
              </a:rPr>
              <a:t>peaks at 17:00 with 573 average rentals</a:t>
            </a:r>
            <a:r>
              <a:rPr b="0" lang="en" sz="10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, while the lowest demand occurs at </a:t>
            </a:r>
            <a:r>
              <a:rPr b="1" lang="en" sz="1050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04:00 with only 7 average rentals</a:t>
            </a:r>
            <a:r>
              <a:rPr b="0" lang="en" sz="10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, showing that </a:t>
            </a:r>
            <a:r>
              <a:rPr b="1" lang="en" sz="105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afternoon and early evening are the busiest periods</a:t>
            </a:r>
            <a:r>
              <a:rPr b="0" lang="en" sz="10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sz="105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5" name="Google Shape;105;p17"/>
          <p:cNvSpPr/>
          <p:nvPr/>
        </p:nvSpPr>
        <p:spPr>
          <a:xfrm>
            <a:off x="5715000" y="3333750"/>
            <a:ext cx="1428900" cy="1381200"/>
          </a:xfrm>
          <a:prstGeom prst="roundRect">
            <a:avLst>
              <a:gd fmla="val 8275" name="adj"/>
            </a:avLst>
          </a:prstGeom>
          <a:solidFill>
            <a:srgbClr val="1E293B">
              <a:alpha val="80000"/>
            </a:srgbClr>
          </a:solidFill>
          <a:ln cap="flat" cmpd="sng" w="1905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7"/>
          <p:cNvSpPr txBox="1"/>
          <p:nvPr/>
        </p:nvSpPr>
        <p:spPr>
          <a:xfrm>
            <a:off x="5810250" y="3429000"/>
            <a:ext cx="1238400" cy="11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Avg. Rentals</a:t>
            </a:r>
            <a:endParaRPr b="1" sz="1000">
              <a:solidFill>
                <a:srgbClr val="38BDF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2600">
                <a:solidFill>
                  <a:srgbClr val="22C55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573</a:t>
            </a:r>
            <a:r>
              <a:rPr b="0" lang="en" sz="1800">
                <a:solidFill>
                  <a:srgbClr val="38BDF8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+</a:t>
            </a:r>
            <a:endParaRPr b="1" sz="1000">
              <a:solidFill>
                <a:srgbClr val="38BDF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At 17:00 Peak</a:t>
            </a:r>
            <a:endParaRPr b="0" sz="900">
              <a:solidFill>
                <a:srgbClr val="64748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7" name="Google Shape;107;p17"/>
          <p:cNvSpPr/>
          <p:nvPr/>
        </p:nvSpPr>
        <p:spPr>
          <a:xfrm>
            <a:off x="7334250" y="3333750"/>
            <a:ext cx="1428900" cy="1381200"/>
          </a:xfrm>
          <a:prstGeom prst="roundRect">
            <a:avLst>
              <a:gd fmla="val 8275" name="adj"/>
            </a:avLst>
          </a:prstGeom>
          <a:solidFill>
            <a:srgbClr val="1E293B">
              <a:alpha val="60000"/>
            </a:srgbClr>
          </a:solidFill>
          <a:ln cap="flat" cmpd="sng" w="143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7"/>
          <p:cNvSpPr txBox="1"/>
          <p:nvPr/>
        </p:nvSpPr>
        <p:spPr>
          <a:xfrm>
            <a:off x="7429500" y="3429000"/>
            <a:ext cx="1238400" cy="11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Total Rentals</a:t>
            </a:r>
            <a:endParaRPr b="1" sz="1000">
              <a:solidFill>
                <a:srgbClr val="38BDF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2200">
                <a:solidFill>
                  <a:srgbClr val="38BDF8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2.04M</a:t>
            </a:r>
            <a:r>
              <a:rPr b="0" lang="en" sz="1600">
                <a:solidFill>
                  <a:srgbClr val="38BDF8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+</a:t>
            </a:r>
            <a:endParaRPr b="1" sz="1000">
              <a:solidFill>
                <a:srgbClr val="38BDF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Overall</a:t>
            </a:r>
            <a:endParaRPr b="0" sz="900">
              <a:solidFill>
                <a:srgbClr val="64748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9" name="Google Shape;109;p17"/>
          <p:cNvPicPr preferRelativeResize="0"/>
          <p:nvPr/>
        </p:nvPicPr>
        <p:blipFill rotWithShape="1">
          <a:blip r:embed="rId3">
            <a:alphaModFix/>
          </a:blip>
          <a:srcRect b="30" l="0" r="0" t="30"/>
          <a:stretch/>
        </p:blipFill>
        <p:spPr>
          <a:xfrm>
            <a:off x="428625" y="1381125"/>
            <a:ext cx="5048400" cy="3009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7"/>
          <p:cNvSpPr/>
          <p:nvPr/>
        </p:nvSpPr>
        <p:spPr>
          <a:xfrm>
            <a:off x="3936900" y="1625025"/>
            <a:ext cx="292200" cy="292200"/>
          </a:xfrm>
          <a:prstGeom prst="ellipse">
            <a:avLst/>
          </a:prstGeom>
          <a:solidFill>
            <a:srgbClr val="000000">
              <a:alpha val="0"/>
            </a:srgbClr>
          </a:solidFill>
          <a:ln cap="flat" cmpd="sng" w="381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7"/>
          <p:cNvSpPr/>
          <p:nvPr/>
        </p:nvSpPr>
        <p:spPr>
          <a:xfrm>
            <a:off x="1549350" y="3737900"/>
            <a:ext cx="292200" cy="292200"/>
          </a:xfrm>
          <a:prstGeom prst="ellipse">
            <a:avLst/>
          </a:prstGeom>
          <a:solidFill>
            <a:srgbClr val="000000">
              <a:alpha val="0"/>
            </a:srgbClr>
          </a:solidFill>
          <a:ln cap="flat" cmpd="sng" w="381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7"/>
          <p:cNvSpPr txBox="1"/>
          <p:nvPr/>
        </p:nvSpPr>
        <p:spPr>
          <a:xfrm>
            <a:off x="4320250" y="1686525"/>
            <a:ext cx="487200" cy="16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573.23</a:t>
            </a:r>
            <a:endParaRPr b="1" sz="1100">
              <a:solidFill>
                <a:srgbClr val="22C55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7"/>
          <p:cNvSpPr txBox="1"/>
          <p:nvPr/>
        </p:nvSpPr>
        <p:spPr>
          <a:xfrm>
            <a:off x="1257300" y="3486150"/>
            <a:ext cx="352800" cy="16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7.25</a:t>
            </a:r>
            <a:endParaRPr b="1" sz="1100">
              <a:solidFill>
                <a:srgbClr val="EF444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8"/>
          <p:cNvSpPr/>
          <p:nvPr/>
        </p:nvSpPr>
        <p:spPr>
          <a:xfrm>
            <a:off x="0" y="0"/>
            <a:ext cx="9144000" cy="857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4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8"/>
          <p:cNvSpPr/>
          <p:nvPr/>
        </p:nvSpPr>
        <p:spPr>
          <a:xfrm>
            <a:off x="381000" y="1285875"/>
            <a:ext cx="5143500" cy="3429000"/>
          </a:xfrm>
          <a:prstGeom prst="roundRect">
            <a:avLst>
              <a:gd fmla="val 3333" name="adj"/>
            </a:avLst>
          </a:prstGeom>
          <a:solidFill>
            <a:srgbClr val="1E293B">
              <a:alpha val="40000"/>
            </a:srgbClr>
          </a:solidFill>
          <a:ln cap="flat" cmpd="sng" w="143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8"/>
          <p:cNvSpPr/>
          <p:nvPr/>
        </p:nvSpPr>
        <p:spPr>
          <a:xfrm>
            <a:off x="5715000" y="1285875"/>
            <a:ext cx="3048000" cy="1857300"/>
          </a:xfrm>
          <a:prstGeom prst="roundRect">
            <a:avLst>
              <a:gd fmla="val 6153" name="adj"/>
            </a:avLst>
          </a:prstGeom>
          <a:solidFill>
            <a:srgbClr val="1E293B">
              <a:alpha val="60000"/>
            </a:srgbClr>
          </a:solidFill>
          <a:ln cap="flat" cmpd="sng" w="143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2" name="Google Shape;122;p18"/>
          <p:cNvGrpSpPr/>
          <p:nvPr/>
        </p:nvGrpSpPr>
        <p:grpSpPr>
          <a:xfrm>
            <a:off x="5905500" y="1476375"/>
            <a:ext cx="2667000" cy="1476300"/>
            <a:chOff x="0" y="0"/>
            <a:chExt cx="2667000" cy="1476300"/>
          </a:xfrm>
        </p:grpSpPr>
        <p:sp>
          <p:nvSpPr>
            <p:cNvPr id="123" name="Google Shape;123;p18"/>
            <p:cNvSpPr/>
            <p:nvPr/>
          </p:nvSpPr>
          <p:spPr>
            <a:xfrm>
              <a:off x="0" y="0"/>
              <a:ext cx="2667000" cy="1476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8"/>
            <p:cNvSpPr txBox="1"/>
            <p:nvPr/>
          </p:nvSpPr>
          <p:spPr>
            <a:xfrm>
              <a:off x="0" y="0"/>
              <a:ext cx="2667000" cy="1476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b="1" sz="1500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 sz="1100">
                  <a:solidFill>
                    <a:srgbClr val="22C55E"/>
                  </a:solidFill>
                </a:rPr>
                <a:t>Thursday records the highest rental demand at 5,978 average rentals</a:t>
              </a:r>
              <a:r>
                <a:rPr lang="en" sz="1100">
                  <a:solidFill>
                    <a:schemeClr val="lt1"/>
                  </a:solidFill>
                </a:rPr>
                <a:t>, while </a:t>
              </a:r>
              <a:r>
                <a:rPr b="1" lang="en" sz="1100">
                  <a:solidFill>
                    <a:srgbClr val="FF5555"/>
                  </a:solidFill>
                </a:rPr>
                <a:t>Sunday has the lowest at 5,037</a:t>
              </a:r>
              <a:r>
                <a:rPr lang="en" sz="1100">
                  <a:solidFill>
                    <a:schemeClr val="lt1"/>
                  </a:solidFill>
                </a:rPr>
                <a:t>, indicating stronger demand during the </a:t>
              </a:r>
              <a:r>
                <a:rPr b="1" lang="en" sz="1100">
                  <a:solidFill>
                    <a:schemeClr val="lt1"/>
                  </a:solidFill>
                </a:rPr>
                <a:t>mid-to-late weekdays</a:t>
              </a:r>
              <a:r>
                <a:rPr lang="en" sz="1100">
                  <a:solidFill>
                    <a:schemeClr val="lt1"/>
                  </a:solidFill>
                </a:rPr>
                <a:t>.</a:t>
              </a:r>
              <a:endParaRPr sz="1100">
                <a:solidFill>
                  <a:schemeClr val="lt1"/>
                </a:solidFill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25" name="Google Shape;125;p18"/>
          <p:cNvSpPr/>
          <p:nvPr/>
        </p:nvSpPr>
        <p:spPr>
          <a:xfrm>
            <a:off x="5715000" y="3333750"/>
            <a:ext cx="1428900" cy="1333500"/>
          </a:xfrm>
          <a:prstGeom prst="roundRect">
            <a:avLst>
              <a:gd fmla="val 8571" name="adj"/>
            </a:avLst>
          </a:prstGeom>
          <a:solidFill>
            <a:srgbClr val="1E293B">
              <a:alpha val="80000"/>
            </a:srgbClr>
          </a:solidFill>
          <a:ln cap="flat" cmpd="sng" w="1905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6" name="Google Shape;126;p18"/>
          <p:cNvGrpSpPr/>
          <p:nvPr/>
        </p:nvGrpSpPr>
        <p:grpSpPr>
          <a:xfrm>
            <a:off x="5810250" y="3448050"/>
            <a:ext cx="1238400" cy="1095300"/>
            <a:chOff x="0" y="0"/>
            <a:chExt cx="1238400" cy="1095300"/>
          </a:xfrm>
        </p:grpSpPr>
        <p:sp>
          <p:nvSpPr>
            <p:cNvPr id="127" name="Google Shape;127;p18"/>
            <p:cNvSpPr/>
            <p:nvPr/>
          </p:nvSpPr>
          <p:spPr>
            <a:xfrm>
              <a:off x="0" y="0"/>
              <a:ext cx="1238400" cy="1095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8"/>
            <p:cNvSpPr txBox="1"/>
            <p:nvPr/>
          </p:nvSpPr>
          <p:spPr>
            <a:xfrm>
              <a:off x="0" y="0"/>
              <a:ext cx="1238400" cy="1095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0EA5E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Avg. Rentals</a:t>
              </a:r>
              <a:endParaRPr b="1" sz="900">
                <a:solidFill>
                  <a:srgbClr val="0EA5E9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22C55E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5,977.7</a:t>
              </a:r>
              <a:r>
                <a:rPr b="0" lang="en" sz="1600">
                  <a:solidFill>
                    <a:srgbClr val="22C55E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+</a:t>
              </a:r>
              <a:endParaRPr b="1" sz="900">
                <a:solidFill>
                  <a:srgbClr val="22C55E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64748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At </a:t>
              </a:r>
              <a:r>
                <a:rPr lang="en" sz="900">
                  <a:solidFill>
                    <a:srgbClr val="64748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Thursday</a:t>
              </a:r>
              <a:r>
                <a:rPr b="0" lang="en" sz="900">
                  <a:solidFill>
                    <a:srgbClr val="64748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Peak</a:t>
              </a:r>
              <a:endParaRPr b="0" sz="900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29" name="Google Shape;129;p18"/>
          <p:cNvSpPr/>
          <p:nvPr/>
        </p:nvSpPr>
        <p:spPr>
          <a:xfrm>
            <a:off x="7334250" y="3333750"/>
            <a:ext cx="1428900" cy="1333500"/>
          </a:xfrm>
          <a:prstGeom prst="roundRect">
            <a:avLst>
              <a:gd fmla="val 8571" name="adj"/>
            </a:avLst>
          </a:prstGeom>
          <a:solidFill>
            <a:srgbClr val="1E293B">
              <a:alpha val="60000"/>
            </a:srgbClr>
          </a:solidFill>
          <a:ln cap="flat" cmpd="sng" w="143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0" name="Google Shape;130;p18"/>
          <p:cNvGrpSpPr/>
          <p:nvPr/>
        </p:nvGrpSpPr>
        <p:grpSpPr>
          <a:xfrm>
            <a:off x="7429500" y="3448050"/>
            <a:ext cx="1238400" cy="1095300"/>
            <a:chOff x="0" y="0"/>
            <a:chExt cx="1238400" cy="1095300"/>
          </a:xfrm>
        </p:grpSpPr>
        <p:sp>
          <p:nvSpPr>
            <p:cNvPr id="131" name="Google Shape;131;p18"/>
            <p:cNvSpPr/>
            <p:nvPr/>
          </p:nvSpPr>
          <p:spPr>
            <a:xfrm>
              <a:off x="0" y="0"/>
              <a:ext cx="1238400" cy="1095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8"/>
            <p:cNvSpPr txBox="1"/>
            <p:nvPr/>
          </p:nvSpPr>
          <p:spPr>
            <a:xfrm>
              <a:off x="0" y="0"/>
              <a:ext cx="1238400" cy="1095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0EA5E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Total Rentals</a:t>
              </a:r>
              <a:endParaRPr b="1" sz="900">
                <a:solidFill>
                  <a:srgbClr val="0EA5E9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38BDF8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2,04</a:t>
              </a:r>
              <a:r>
                <a:rPr b="0" lang="en" sz="1800">
                  <a:solidFill>
                    <a:srgbClr val="38BDF8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M</a:t>
              </a:r>
              <a:r>
                <a:rPr b="0" lang="en" sz="1400">
                  <a:solidFill>
                    <a:srgbClr val="38BDF8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+</a:t>
              </a:r>
              <a:endParaRPr b="1" sz="900">
                <a:solidFill>
                  <a:srgbClr val="0EA5E9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64748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Overall</a:t>
              </a:r>
              <a:endParaRPr b="0" sz="900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pic>
        <p:nvPicPr>
          <p:cNvPr id="133" name="Google Shape;133;p18"/>
          <p:cNvPicPr preferRelativeResize="0"/>
          <p:nvPr/>
        </p:nvPicPr>
        <p:blipFill rotWithShape="1">
          <a:blip r:embed="rId3">
            <a:alphaModFix/>
          </a:blip>
          <a:srcRect b="0" l="2098" r="2089" t="0"/>
          <a:stretch/>
        </p:blipFill>
        <p:spPr>
          <a:xfrm>
            <a:off x="428625" y="1428750"/>
            <a:ext cx="5048400" cy="3143400"/>
          </a:xfrm>
          <a:prstGeom prst="roundRect">
            <a:avLst>
              <a:gd fmla="val 2424" name="adj"/>
            </a:avLst>
          </a:prstGeom>
          <a:noFill/>
          <a:ln>
            <a:noFill/>
          </a:ln>
        </p:spPr>
      </p:pic>
      <p:sp>
        <p:nvSpPr>
          <p:cNvPr id="134" name="Google Shape;134;p18"/>
          <p:cNvSpPr/>
          <p:nvPr/>
        </p:nvSpPr>
        <p:spPr>
          <a:xfrm>
            <a:off x="2985925" y="1729800"/>
            <a:ext cx="285900" cy="285900"/>
          </a:xfrm>
          <a:prstGeom prst="ellipse">
            <a:avLst/>
          </a:prstGeom>
          <a:solidFill>
            <a:srgbClr val="000000">
              <a:alpha val="0"/>
            </a:srgbClr>
          </a:solidFill>
          <a:ln cap="flat" cmpd="sng" w="381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8"/>
          <p:cNvSpPr/>
          <p:nvPr/>
        </p:nvSpPr>
        <p:spPr>
          <a:xfrm>
            <a:off x="5114925" y="4010025"/>
            <a:ext cx="285900" cy="285900"/>
          </a:xfrm>
          <a:prstGeom prst="ellipse">
            <a:avLst/>
          </a:prstGeom>
          <a:solidFill>
            <a:srgbClr val="000000">
              <a:alpha val="0"/>
            </a:srgbClr>
          </a:solidFill>
          <a:ln cap="flat" cmpd="sng" w="38100">
            <a:solidFill>
              <a:srgbClr val="FF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8"/>
          <p:cNvSpPr txBox="1"/>
          <p:nvPr/>
        </p:nvSpPr>
        <p:spPr>
          <a:xfrm>
            <a:off x="2771725" y="2047875"/>
            <a:ext cx="714300" cy="16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22C55E"/>
                </a:solidFill>
                <a:latin typeface="Montserrat"/>
                <a:ea typeface="Montserrat"/>
                <a:cs typeface="Montserrat"/>
                <a:sym typeface="Montserrat"/>
              </a:rPr>
              <a:t>5977.75</a:t>
            </a:r>
            <a:endParaRPr b="1" sz="1100">
              <a:solidFill>
                <a:srgbClr val="22C55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7" name="Google Shape;137;p18"/>
          <p:cNvSpPr txBox="1"/>
          <p:nvPr/>
        </p:nvSpPr>
        <p:spPr>
          <a:xfrm>
            <a:off x="4467225" y="3962400"/>
            <a:ext cx="714300" cy="16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5555"/>
                </a:solidFill>
                <a:latin typeface="Montserrat"/>
                <a:ea typeface="Montserrat"/>
                <a:cs typeface="Montserrat"/>
                <a:sym typeface="Montserrat"/>
              </a:rPr>
              <a:t>5036.85</a:t>
            </a:r>
            <a:endParaRPr b="1" sz="1100">
              <a:solidFill>
                <a:srgbClr val="FF55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8" name="Google Shape;138;p18"/>
          <p:cNvSpPr txBox="1"/>
          <p:nvPr/>
        </p:nvSpPr>
        <p:spPr>
          <a:xfrm>
            <a:off x="476250" y="381000"/>
            <a:ext cx="81915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>
                <a:solidFill>
                  <a:srgbClr val="38BDF8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Average Rentals by Days</a:t>
            </a:r>
            <a:endParaRPr b="0" i="0" sz="12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9"/>
          <p:cNvSpPr/>
          <p:nvPr/>
        </p:nvSpPr>
        <p:spPr>
          <a:xfrm>
            <a:off x="0" y="0"/>
            <a:ext cx="9144000" cy="857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4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9"/>
          <p:cNvSpPr txBox="1"/>
          <p:nvPr/>
        </p:nvSpPr>
        <p:spPr>
          <a:xfrm>
            <a:off x="476250" y="381000"/>
            <a:ext cx="81915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40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Average Rentals by Seasons</a:t>
            </a:r>
            <a:endParaRPr b="1" sz="1240">
              <a:solidFill>
                <a:srgbClr val="38BDF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" name="Google Shape;146;p19"/>
          <p:cNvSpPr/>
          <p:nvPr/>
        </p:nvSpPr>
        <p:spPr>
          <a:xfrm>
            <a:off x="381000" y="1285875"/>
            <a:ext cx="5143500" cy="3333900"/>
          </a:xfrm>
          <a:prstGeom prst="roundRect">
            <a:avLst>
              <a:gd fmla="val 3428" name="adj"/>
            </a:avLst>
          </a:prstGeom>
          <a:solidFill>
            <a:srgbClr val="1E293B">
              <a:alpha val="40000"/>
            </a:srgbClr>
          </a:solidFill>
          <a:ln cap="flat" cmpd="sng" w="143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7" name="Google Shape;147;p19"/>
          <p:cNvGrpSpPr/>
          <p:nvPr/>
        </p:nvGrpSpPr>
        <p:grpSpPr>
          <a:xfrm>
            <a:off x="5715000" y="1285875"/>
            <a:ext cx="3048000" cy="1809600"/>
            <a:chOff x="0" y="0"/>
            <a:chExt cx="3048000" cy="1809600"/>
          </a:xfrm>
        </p:grpSpPr>
        <p:sp>
          <p:nvSpPr>
            <p:cNvPr id="148" name="Google Shape;148;p19"/>
            <p:cNvSpPr/>
            <p:nvPr/>
          </p:nvSpPr>
          <p:spPr>
            <a:xfrm>
              <a:off x="0" y="0"/>
              <a:ext cx="3048000" cy="1809600"/>
            </a:xfrm>
            <a:prstGeom prst="roundRect">
              <a:avLst>
                <a:gd fmla="val 6315" name="adj"/>
              </a:avLst>
            </a:prstGeom>
            <a:solidFill>
              <a:srgbClr val="1E293B">
                <a:alpha val="60000"/>
              </a:srgbClr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9"/>
            <p:cNvSpPr txBox="1"/>
            <p:nvPr/>
          </p:nvSpPr>
          <p:spPr>
            <a:xfrm>
              <a:off x="190500" y="190500"/>
              <a:ext cx="2667000" cy="1428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38BDF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Seasonal Demand</a:t>
              </a:r>
              <a:endParaRPr b="1" sz="1400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22C55E"/>
                  </a:solidFill>
                </a:rPr>
                <a:t>Fall has the highest rental demand at 5,644 average rentals</a:t>
              </a:r>
              <a:r>
                <a:rPr lang="en" sz="1100">
                  <a:solidFill>
                    <a:schemeClr val="lt1"/>
                  </a:solidFill>
                </a:rPr>
                <a:t>, while </a:t>
              </a:r>
              <a:r>
                <a:rPr b="1" lang="en" sz="1100">
                  <a:solidFill>
                    <a:srgbClr val="FF0000"/>
                  </a:solidFill>
                </a:rPr>
                <a:t>Spring has the lowest at 2,604</a:t>
              </a:r>
              <a:r>
                <a:rPr lang="en" sz="1100">
                  <a:solidFill>
                    <a:schemeClr val="lt1"/>
                  </a:solidFill>
                </a:rPr>
                <a:t>, showing that </a:t>
              </a:r>
              <a:r>
                <a:rPr b="1" lang="en" sz="1100">
                  <a:solidFill>
                    <a:schemeClr val="lt1"/>
                  </a:solidFill>
                </a:rPr>
                <a:t>seasonality strongly influences bike rental demand</a:t>
              </a:r>
              <a:r>
                <a:rPr lang="en" sz="1100">
                  <a:solidFill>
                    <a:schemeClr val="lt1"/>
                  </a:solidFill>
                </a:rPr>
                <a:t>. </a:t>
              </a:r>
              <a:endParaRPr b="0" sz="105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4750" y="1510338"/>
            <a:ext cx="4836000" cy="288497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/>
          <p:nvPr/>
        </p:nvSpPr>
        <p:spPr>
          <a:xfrm>
            <a:off x="873900" y="1527027"/>
            <a:ext cx="1177200" cy="440400"/>
          </a:xfrm>
          <a:prstGeom prst="ellipse">
            <a:avLst/>
          </a:prstGeom>
          <a:noFill/>
          <a:ln cap="flat" cmpd="sng" w="381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750"/>
              </a:spcAft>
              <a:buNone/>
            </a:pPr>
            <a:r>
              <a:rPr b="1" lang="en" sz="1100">
                <a:solidFill>
                  <a:srgbClr val="22C55E"/>
                </a:solidFill>
                <a:latin typeface="Inter"/>
                <a:ea typeface="Inter"/>
                <a:cs typeface="Inter"/>
                <a:sym typeface="Inter"/>
              </a:rPr>
              <a:t>5,644.30</a:t>
            </a:r>
            <a:endParaRPr>
              <a:solidFill>
                <a:srgbClr val="22C55E"/>
              </a:solidFill>
            </a:endParaRPr>
          </a:p>
        </p:txBody>
      </p:sp>
      <p:sp>
        <p:nvSpPr>
          <p:cNvPr id="152" name="Google Shape;152;p19"/>
          <p:cNvSpPr/>
          <p:nvPr/>
        </p:nvSpPr>
        <p:spPr>
          <a:xfrm>
            <a:off x="5715000" y="3333750"/>
            <a:ext cx="1428900" cy="1333500"/>
          </a:xfrm>
          <a:prstGeom prst="roundRect">
            <a:avLst>
              <a:gd fmla="val 8571" name="adj"/>
            </a:avLst>
          </a:prstGeom>
          <a:solidFill>
            <a:srgbClr val="1E293B">
              <a:alpha val="80000"/>
            </a:srgbClr>
          </a:solidFill>
          <a:ln cap="flat" cmpd="sng" w="1905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9"/>
          <p:cNvSpPr/>
          <p:nvPr/>
        </p:nvSpPr>
        <p:spPr>
          <a:xfrm>
            <a:off x="4193550" y="2785789"/>
            <a:ext cx="1177200" cy="4404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750"/>
              </a:spcAft>
              <a:buNone/>
            </a:pPr>
            <a:r>
              <a:rPr b="1" lang="en" sz="1100">
                <a:solidFill>
                  <a:srgbClr val="FF5555"/>
                </a:solidFill>
                <a:latin typeface="Inter"/>
                <a:ea typeface="Inter"/>
                <a:cs typeface="Inter"/>
                <a:sym typeface="Inter"/>
              </a:rPr>
              <a:t>2,640</a:t>
            </a:r>
            <a:endParaRPr>
              <a:solidFill>
                <a:srgbClr val="FF5555"/>
              </a:solidFill>
            </a:endParaRPr>
          </a:p>
        </p:txBody>
      </p:sp>
      <p:grpSp>
        <p:nvGrpSpPr>
          <p:cNvPr id="154" name="Google Shape;154;p19"/>
          <p:cNvGrpSpPr/>
          <p:nvPr/>
        </p:nvGrpSpPr>
        <p:grpSpPr>
          <a:xfrm>
            <a:off x="5810250" y="3429000"/>
            <a:ext cx="1238400" cy="1143000"/>
            <a:chOff x="0" y="0"/>
            <a:chExt cx="1238400" cy="1143000"/>
          </a:xfrm>
        </p:grpSpPr>
        <p:sp>
          <p:nvSpPr>
            <p:cNvPr id="155" name="Google Shape;155;p19"/>
            <p:cNvSpPr/>
            <p:nvPr/>
          </p:nvSpPr>
          <p:spPr>
            <a:xfrm>
              <a:off x="0" y="0"/>
              <a:ext cx="1238400" cy="1143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9"/>
            <p:cNvSpPr txBox="1"/>
            <p:nvPr/>
          </p:nvSpPr>
          <p:spPr>
            <a:xfrm>
              <a:off x="0" y="0"/>
              <a:ext cx="12384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38BDF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Avg. Rentals</a:t>
              </a:r>
              <a:endParaRPr b="1" sz="1000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2400">
                  <a:solidFill>
                    <a:srgbClr val="22C55E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5,644</a:t>
              </a:r>
              <a:r>
                <a:rPr b="0" lang="en" sz="1600">
                  <a:solidFill>
                    <a:srgbClr val="22C55E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+</a:t>
              </a:r>
              <a:endParaRPr b="1" sz="1000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64748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Fall Peak</a:t>
              </a:r>
              <a:endParaRPr b="0" sz="900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57" name="Google Shape;157;p19"/>
          <p:cNvSpPr/>
          <p:nvPr/>
        </p:nvSpPr>
        <p:spPr>
          <a:xfrm>
            <a:off x="7334250" y="3333750"/>
            <a:ext cx="1428900" cy="1333500"/>
          </a:xfrm>
          <a:prstGeom prst="roundRect">
            <a:avLst>
              <a:gd fmla="val 8571" name="adj"/>
            </a:avLst>
          </a:prstGeom>
          <a:solidFill>
            <a:srgbClr val="1E293B">
              <a:alpha val="60000"/>
            </a:srgbClr>
          </a:solidFill>
          <a:ln cap="flat" cmpd="sng" w="143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8" name="Google Shape;158;p19"/>
          <p:cNvGrpSpPr/>
          <p:nvPr/>
        </p:nvGrpSpPr>
        <p:grpSpPr>
          <a:xfrm>
            <a:off x="7429500" y="3429000"/>
            <a:ext cx="1238400" cy="1143000"/>
            <a:chOff x="0" y="0"/>
            <a:chExt cx="1238400" cy="1143000"/>
          </a:xfrm>
        </p:grpSpPr>
        <p:sp>
          <p:nvSpPr>
            <p:cNvPr id="159" name="Google Shape;159;p19"/>
            <p:cNvSpPr/>
            <p:nvPr/>
          </p:nvSpPr>
          <p:spPr>
            <a:xfrm>
              <a:off x="0" y="0"/>
              <a:ext cx="1238400" cy="1143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9"/>
            <p:cNvSpPr txBox="1"/>
            <p:nvPr/>
          </p:nvSpPr>
          <p:spPr>
            <a:xfrm>
              <a:off x="0" y="0"/>
              <a:ext cx="12384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38BDF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Total Rentals</a:t>
              </a:r>
              <a:endParaRPr b="1" sz="1000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2200">
                  <a:solidFill>
                    <a:srgbClr val="38BDF8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2.04M</a:t>
              </a:r>
              <a:r>
                <a:rPr b="0" lang="en" sz="1400">
                  <a:solidFill>
                    <a:srgbClr val="38BDF8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+</a:t>
              </a:r>
              <a:endParaRPr b="1" sz="1000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64748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Overall</a:t>
              </a:r>
              <a:endParaRPr b="0" sz="900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0"/>
          <p:cNvSpPr/>
          <p:nvPr/>
        </p:nvSpPr>
        <p:spPr>
          <a:xfrm>
            <a:off x="0" y="0"/>
            <a:ext cx="9144000" cy="857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4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0"/>
          <p:cNvSpPr txBox="1"/>
          <p:nvPr/>
        </p:nvSpPr>
        <p:spPr>
          <a:xfrm>
            <a:off x="571500" y="428625"/>
            <a:ext cx="80010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2. How did monthly rental demand change throughout the 2011–2012 period?</a:t>
            </a:r>
            <a:endParaRPr sz="160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68" name="Google Shape;168;p20"/>
          <p:cNvSpPr/>
          <p:nvPr/>
        </p:nvSpPr>
        <p:spPr>
          <a:xfrm>
            <a:off x="381000" y="1285875"/>
            <a:ext cx="5143500" cy="3333900"/>
          </a:xfrm>
          <a:prstGeom prst="roundRect">
            <a:avLst>
              <a:gd fmla="val 3428" name="adj"/>
            </a:avLst>
          </a:prstGeom>
          <a:solidFill>
            <a:srgbClr val="1E293B">
              <a:alpha val="40000"/>
            </a:srgbClr>
          </a:solidFill>
          <a:ln cap="flat" cmpd="sng" w="143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9" name="Google Shape;16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500" y="1456675"/>
            <a:ext cx="5015899" cy="29923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0"/>
          <p:cNvSpPr/>
          <p:nvPr/>
        </p:nvSpPr>
        <p:spPr>
          <a:xfrm>
            <a:off x="3678518" y="1662120"/>
            <a:ext cx="733500" cy="342900"/>
          </a:xfrm>
          <a:prstGeom prst="ellipse">
            <a:avLst/>
          </a:prstGeom>
          <a:solidFill>
            <a:srgbClr val="000000">
              <a:alpha val="0"/>
            </a:srgbClr>
          </a:solidFill>
          <a:ln cap="flat" cmpd="sng" w="381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0"/>
          <p:cNvSpPr txBox="1"/>
          <p:nvPr/>
        </p:nvSpPr>
        <p:spPr>
          <a:xfrm>
            <a:off x="3773767" y="2115217"/>
            <a:ext cx="543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22C55E"/>
                </a:solidFill>
                <a:latin typeface="Montserrat"/>
                <a:ea typeface="Montserrat"/>
                <a:cs typeface="Montserrat"/>
                <a:sym typeface="Montserrat"/>
              </a:rPr>
              <a:t>7,286</a:t>
            </a:r>
            <a:endParaRPr b="1" sz="1100">
              <a:solidFill>
                <a:srgbClr val="22C55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72" name="Google Shape;172;p20"/>
          <p:cNvGrpSpPr/>
          <p:nvPr/>
        </p:nvGrpSpPr>
        <p:grpSpPr>
          <a:xfrm>
            <a:off x="5715000" y="1285875"/>
            <a:ext cx="3048000" cy="1857300"/>
            <a:chOff x="0" y="0"/>
            <a:chExt cx="3048000" cy="1857300"/>
          </a:xfrm>
        </p:grpSpPr>
        <p:sp>
          <p:nvSpPr>
            <p:cNvPr id="173" name="Google Shape;173;p20"/>
            <p:cNvSpPr/>
            <p:nvPr/>
          </p:nvSpPr>
          <p:spPr>
            <a:xfrm>
              <a:off x="0" y="0"/>
              <a:ext cx="3048000" cy="1857300"/>
            </a:xfrm>
            <a:prstGeom prst="roundRect">
              <a:avLst>
                <a:gd fmla="val 6153" name="adj"/>
              </a:avLst>
            </a:prstGeom>
            <a:solidFill>
              <a:srgbClr val="1E293B">
                <a:alpha val="60000"/>
              </a:srgbClr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20"/>
            <p:cNvSpPr txBox="1"/>
            <p:nvPr/>
          </p:nvSpPr>
          <p:spPr>
            <a:xfrm>
              <a:off x="190500" y="190500"/>
              <a:ext cx="2667000" cy="1476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400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22C55E"/>
                  </a:solidFill>
                  <a:latin typeface="Arial"/>
                  <a:ea typeface="Arial"/>
                  <a:cs typeface="Arial"/>
                  <a:sym typeface="Arial"/>
                </a:rPr>
                <a:t>September records the highest rental demand at 7,286 average rentals</a:t>
              </a:r>
              <a:r>
                <a:rPr b="0" lang="en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, while </a:t>
              </a:r>
              <a:r>
                <a:rPr b="1" lang="en" sz="1100">
                  <a:solidFill>
                    <a:srgbClr val="FF5555"/>
                  </a:solidFill>
                  <a:latin typeface="Arial"/>
                  <a:ea typeface="Arial"/>
                  <a:cs typeface="Arial"/>
                  <a:sym typeface="Arial"/>
                </a:rPr>
                <a:t>January is the lowest at 3,121</a:t>
              </a:r>
              <a:r>
                <a:rPr b="0" lang="en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, showing demand rises steadily toward late summer before declining.</a:t>
              </a:r>
              <a:endParaRPr b="0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5" name="Google Shape;175;p20"/>
          <p:cNvSpPr/>
          <p:nvPr/>
        </p:nvSpPr>
        <p:spPr>
          <a:xfrm>
            <a:off x="656318" y="3690395"/>
            <a:ext cx="733500" cy="342900"/>
          </a:xfrm>
          <a:prstGeom prst="ellipse">
            <a:avLst/>
          </a:prstGeom>
          <a:solidFill>
            <a:srgbClr val="000000">
              <a:alpha val="0"/>
            </a:srgbClr>
          </a:solidFill>
          <a:ln cap="flat" cmpd="sng" w="38100">
            <a:solidFill>
              <a:srgbClr val="FF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0"/>
          <p:cNvSpPr txBox="1"/>
          <p:nvPr/>
        </p:nvSpPr>
        <p:spPr>
          <a:xfrm>
            <a:off x="1389821" y="3690395"/>
            <a:ext cx="543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5555"/>
                </a:solidFill>
                <a:latin typeface="Montserrat"/>
                <a:ea typeface="Montserrat"/>
                <a:cs typeface="Montserrat"/>
                <a:sym typeface="Montserrat"/>
              </a:rPr>
              <a:t>3,121</a:t>
            </a:r>
            <a:endParaRPr b="1" sz="1100">
              <a:solidFill>
                <a:srgbClr val="FF55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5715000" y="3286125"/>
            <a:ext cx="1428900" cy="1333500"/>
          </a:xfrm>
          <a:prstGeom prst="roundRect">
            <a:avLst>
              <a:gd fmla="val 8571" name="adj"/>
            </a:avLst>
          </a:prstGeom>
          <a:solidFill>
            <a:srgbClr val="1E293B">
              <a:alpha val="80000"/>
            </a:srgbClr>
          </a:solidFill>
          <a:ln cap="flat" cmpd="sng" w="1905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0"/>
          <p:cNvSpPr txBox="1"/>
          <p:nvPr/>
        </p:nvSpPr>
        <p:spPr>
          <a:xfrm>
            <a:off x="5810250" y="3381375"/>
            <a:ext cx="12384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0EA5E9"/>
                </a:solidFill>
                <a:latin typeface="Montserrat"/>
                <a:ea typeface="Montserrat"/>
                <a:cs typeface="Montserrat"/>
                <a:sym typeface="Montserrat"/>
              </a:rPr>
              <a:t>Avg. Rentals</a:t>
            </a:r>
            <a:endParaRPr b="1" sz="900">
              <a:solidFill>
                <a:srgbClr val="0EA5E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22C55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7,286</a:t>
            </a:r>
            <a:r>
              <a:rPr b="0" lang="en" sz="1600">
                <a:solidFill>
                  <a:srgbClr val="22C55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+</a:t>
            </a:r>
            <a:endParaRPr b="1" sz="900">
              <a:solidFill>
                <a:srgbClr val="0EA5E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Sept Peak</a:t>
            </a:r>
            <a:endParaRPr b="0" sz="900">
              <a:solidFill>
                <a:srgbClr val="64748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7334250" y="3286125"/>
            <a:ext cx="1428900" cy="1333500"/>
          </a:xfrm>
          <a:prstGeom prst="roundRect">
            <a:avLst>
              <a:gd fmla="val 8571" name="adj"/>
            </a:avLst>
          </a:prstGeom>
          <a:solidFill>
            <a:srgbClr val="1E293B">
              <a:alpha val="60000"/>
            </a:srgbClr>
          </a:solidFill>
          <a:ln cap="flat" cmpd="sng" w="143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7429500" y="3381375"/>
            <a:ext cx="12384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0EA5E9"/>
                </a:solidFill>
                <a:latin typeface="Montserrat"/>
                <a:ea typeface="Montserrat"/>
                <a:cs typeface="Montserrat"/>
                <a:sym typeface="Montserrat"/>
              </a:rPr>
              <a:t>Total Rentals</a:t>
            </a:r>
            <a:endParaRPr b="1" sz="900">
              <a:solidFill>
                <a:srgbClr val="0EA5E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2200">
                <a:solidFill>
                  <a:srgbClr val="38BDF8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2.04M</a:t>
            </a:r>
            <a:r>
              <a:rPr b="0" lang="en" sz="1400">
                <a:solidFill>
                  <a:srgbClr val="38BDF8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+</a:t>
            </a:r>
            <a:endParaRPr b="1" sz="900">
              <a:solidFill>
                <a:srgbClr val="0EA5E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Overall</a:t>
            </a:r>
            <a:endParaRPr b="0" sz="900">
              <a:solidFill>
                <a:srgbClr val="64748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1"/>
          <p:cNvSpPr/>
          <p:nvPr/>
        </p:nvSpPr>
        <p:spPr>
          <a:xfrm>
            <a:off x="0" y="0"/>
            <a:ext cx="9144000" cy="857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4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1"/>
          <p:cNvSpPr txBox="1"/>
          <p:nvPr/>
        </p:nvSpPr>
        <p:spPr>
          <a:xfrm>
            <a:off x="571500" y="381000"/>
            <a:ext cx="8001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3. </a:t>
            </a:r>
            <a:r>
              <a:rPr b="0" lang="en" sz="16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How did average bike rentals differ across weather conditions during 2011–2012?</a:t>
            </a:r>
            <a:endParaRPr b="0" sz="160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a. Daily</a:t>
            </a:r>
            <a:endParaRPr b="1" sz="1200">
              <a:solidFill>
                <a:srgbClr val="38BDF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8" name="Google Shape;188;p21"/>
          <p:cNvSpPr/>
          <p:nvPr/>
        </p:nvSpPr>
        <p:spPr>
          <a:xfrm>
            <a:off x="381000" y="1285875"/>
            <a:ext cx="5143500" cy="3333900"/>
          </a:xfrm>
          <a:prstGeom prst="roundRect">
            <a:avLst>
              <a:gd fmla="val 3428" name="adj"/>
            </a:avLst>
          </a:prstGeom>
          <a:solidFill>
            <a:srgbClr val="1E293B">
              <a:alpha val="40000"/>
            </a:srgbClr>
          </a:solidFill>
          <a:ln cap="flat" cmpd="sng" w="143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1"/>
          <p:cNvSpPr/>
          <p:nvPr/>
        </p:nvSpPr>
        <p:spPr>
          <a:xfrm>
            <a:off x="5715000" y="1285875"/>
            <a:ext cx="3048000" cy="1809600"/>
          </a:xfrm>
          <a:prstGeom prst="roundRect">
            <a:avLst>
              <a:gd fmla="val 6315" name="adj"/>
            </a:avLst>
          </a:prstGeom>
          <a:solidFill>
            <a:srgbClr val="1E293B">
              <a:alpha val="60000"/>
            </a:srgbClr>
          </a:solidFill>
          <a:ln cap="flat" cmpd="sng" w="143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1"/>
          <p:cNvSpPr txBox="1"/>
          <p:nvPr/>
        </p:nvSpPr>
        <p:spPr>
          <a:xfrm>
            <a:off x="5905500" y="1476375"/>
            <a:ext cx="2667000" cy="1428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22C55E"/>
                </a:solidFill>
              </a:rPr>
              <a:t>Clear weather drives the highest rental demand at 6,004 average rentals</a:t>
            </a:r>
            <a:r>
              <a:rPr lang="en" sz="1100">
                <a:solidFill>
                  <a:schemeClr val="lt1"/>
                </a:solidFill>
              </a:rPr>
              <a:t>, while </a:t>
            </a:r>
            <a:r>
              <a:rPr b="1" lang="en" sz="1100">
                <a:solidFill>
                  <a:srgbClr val="FF5555"/>
                </a:solidFill>
              </a:rPr>
              <a:t>Light Rain/Snow drops demand to 2,126</a:t>
            </a:r>
            <a:r>
              <a:rPr lang="en" sz="1100">
                <a:solidFill>
                  <a:schemeClr val="lt1"/>
                </a:solidFill>
              </a:rPr>
              <a:t>, showing that </a:t>
            </a:r>
            <a:r>
              <a:rPr b="1" lang="en" sz="1100">
                <a:solidFill>
                  <a:schemeClr val="lt1"/>
                </a:solidFill>
              </a:rPr>
              <a:t>better weather strongly increases bike rental activity</a:t>
            </a:r>
            <a:r>
              <a:rPr lang="en" sz="1100">
                <a:solidFill>
                  <a:schemeClr val="lt1"/>
                </a:solidFill>
              </a:rPr>
              <a:t>.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1" name="Google Shape;191;p21"/>
          <p:cNvSpPr/>
          <p:nvPr/>
        </p:nvSpPr>
        <p:spPr>
          <a:xfrm>
            <a:off x="5715000" y="3286125"/>
            <a:ext cx="1428900" cy="1333500"/>
          </a:xfrm>
          <a:prstGeom prst="roundRect">
            <a:avLst>
              <a:gd fmla="val 8571" name="adj"/>
            </a:avLst>
          </a:prstGeom>
          <a:solidFill>
            <a:srgbClr val="1E293B">
              <a:alpha val="80000"/>
            </a:srgbClr>
          </a:solidFill>
          <a:ln cap="flat" cmpd="sng" w="143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1"/>
          <p:cNvSpPr txBox="1"/>
          <p:nvPr/>
        </p:nvSpPr>
        <p:spPr>
          <a:xfrm>
            <a:off x="5810250" y="3381375"/>
            <a:ext cx="12384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0EA5E9"/>
                </a:solidFill>
                <a:latin typeface="Montserrat"/>
                <a:ea typeface="Montserrat"/>
                <a:cs typeface="Montserrat"/>
                <a:sym typeface="Montserrat"/>
              </a:rPr>
              <a:t>CLEAR WEATHER</a:t>
            </a:r>
            <a:endParaRPr b="1" sz="800">
              <a:solidFill>
                <a:srgbClr val="0EA5E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22C55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6,003</a:t>
            </a:r>
            <a:endParaRPr b="1" sz="800">
              <a:solidFill>
                <a:srgbClr val="22C55E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15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38BDF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Peak Demand</a:t>
            </a:r>
            <a:endParaRPr b="1" sz="800">
              <a:solidFill>
                <a:srgbClr val="0EA5E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3" name="Google Shape;193;p21"/>
          <p:cNvSpPr/>
          <p:nvPr/>
        </p:nvSpPr>
        <p:spPr>
          <a:xfrm>
            <a:off x="7334250" y="3286125"/>
            <a:ext cx="1428900" cy="1333500"/>
          </a:xfrm>
          <a:prstGeom prst="roundRect">
            <a:avLst>
              <a:gd fmla="val 8571" name="adj"/>
            </a:avLst>
          </a:prstGeom>
          <a:solidFill>
            <a:srgbClr val="1E293B">
              <a:alpha val="60000"/>
            </a:srgbClr>
          </a:solidFill>
          <a:ln cap="flat" cmpd="sng" w="143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1"/>
          <p:cNvSpPr txBox="1"/>
          <p:nvPr/>
        </p:nvSpPr>
        <p:spPr>
          <a:xfrm>
            <a:off x="7429500" y="3381375"/>
            <a:ext cx="12384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rPr>
              <a:t>LIGHT RAIN/SNOW</a:t>
            </a:r>
            <a:endParaRPr b="1" sz="800">
              <a:solidFill>
                <a:srgbClr val="94A3B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5555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2,126</a:t>
            </a:r>
            <a:endParaRPr b="1" sz="800">
              <a:solidFill>
                <a:srgbClr val="FF55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15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64748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Lowest Demand</a:t>
            </a:r>
            <a:endParaRPr b="1" sz="800">
              <a:solidFill>
                <a:srgbClr val="94A3B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95" name="Google Shape;19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450" y="1434400"/>
            <a:ext cx="5090576" cy="3036849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1"/>
          <p:cNvSpPr/>
          <p:nvPr/>
        </p:nvSpPr>
        <p:spPr>
          <a:xfrm>
            <a:off x="790350" y="1527028"/>
            <a:ext cx="1177200" cy="440400"/>
          </a:xfrm>
          <a:prstGeom prst="ellipse">
            <a:avLst/>
          </a:prstGeom>
          <a:noFill/>
          <a:ln cap="flat" cmpd="sng" w="3810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750"/>
              </a:spcAft>
              <a:buNone/>
            </a:pPr>
            <a:r>
              <a:t/>
            </a:r>
            <a:endParaRPr b="1" sz="1300">
              <a:solidFill>
                <a:srgbClr val="38761D"/>
              </a:solidFill>
            </a:endParaRPr>
          </a:p>
        </p:txBody>
      </p:sp>
      <p:sp>
        <p:nvSpPr>
          <p:cNvPr id="197" name="Google Shape;197;p21"/>
          <p:cNvSpPr txBox="1"/>
          <p:nvPr/>
        </p:nvSpPr>
        <p:spPr>
          <a:xfrm>
            <a:off x="862500" y="1921850"/>
            <a:ext cx="1032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750"/>
              </a:spcAft>
              <a:buNone/>
            </a:pPr>
            <a:r>
              <a:rPr b="1" lang="en" sz="1300">
                <a:solidFill>
                  <a:srgbClr val="38761D"/>
                </a:solidFill>
              </a:rPr>
              <a:t>6,004</a:t>
            </a:r>
            <a:endParaRPr sz="1800">
              <a:solidFill>
                <a:srgbClr val="38761D"/>
              </a:solidFill>
            </a:endParaRPr>
          </a:p>
        </p:txBody>
      </p:sp>
      <p:sp>
        <p:nvSpPr>
          <p:cNvPr id="198" name="Google Shape;198;p21"/>
          <p:cNvSpPr/>
          <p:nvPr/>
        </p:nvSpPr>
        <p:spPr>
          <a:xfrm>
            <a:off x="4290175" y="3095478"/>
            <a:ext cx="1177200" cy="440400"/>
          </a:xfrm>
          <a:prstGeom prst="ellipse">
            <a:avLst/>
          </a:prstGeom>
          <a:noFill/>
          <a:ln cap="flat" cmpd="sng" w="38100">
            <a:solidFill>
              <a:srgbClr val="FF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750"/>
              </a:spcAft>
              <a:buNone/>
            </a:pPr>
            <a:r>
              <a:t/>
            </a:r>
            <a:endParaRPr b="1" sz="1300">
              <a:solidFill>
                <a:srgbClr val="FF5555"/>
              </a:solidFill>
            </a:endParaRPr>
          </a:p>
        </p:txBody>
      </p:sp>
      <p:sp>
        <p:nvSpPr>
          <p:cNvPr id="199" name="Google Shape;199;p21"/>
          <p:cNvSpPr txBox="1"/>
          <p:nvPr/>
        </p:nvSpPr>
        <p:spPr>
          <a:xfrm>
            <a:off x="4362325" y="3490300"/>
            <a:ext cx="1032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750"/>
              </a:spcAft>
              <a:buNone/>
            </a:pPr>
            <a:r>
              <a:rPr b="1" lang="en" sz="1300">
                <a:solidFill>
                  <a:srgbClr val="FF5555"/>
                </a:solidFill>
              </a:rPr>
              <a:t>2,126</a:t>
            </a:r>
            <a:endParaRPr sz="1800">
              <a:solidFill>
                <a:srgbClr val="FF5555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2"/>
          <p:cNvSpPr/>
          <p:nvPr/>
        </p:nvSpPr>
        <p:spPr>
          <a:xfrm>
            <a:off x="0" y="0"/>
            <a:ext cx="9144000" cy="857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4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2"/>
          <p:cNvSpPr txBox="1"/>
          <p:nvPr/>
        </p:nvSpPr>
        <p:spPr>
          <a:xfrm>
            <a:off x="571500" y="381000"/>
            <a:ext cx="80010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rgbClr val="38BDF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b</a:t>
            </a:r>
            <a:r>
              <a:rPr b="1" lang="en" sz="1200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. Hourly</a:t>
            </a:r>
            <a:endParaRPr b="1" sz="1200">
              <a:solidFill>
                <a:srgbClr val="38BDF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7" name="Google Shape;207;p22"/>
          <p:cNvSpPr/>
          <p:nvPr/>
        </p:nvSpPr>
        <p:spPr>
          <a:xfrm>
            <a:off x="381000" y="1285875"/>
            <a:ext cx="5143500" cy="3333900"/>
          </a:xfrm>
          <a:prstGeom prst="roundRect">
            <a:avLst>
              <a:gd fmla="val 3428" name="adj"/>
            </a:avLst>
          </a:prstGeom>
          <a:solidFill>
            <a:srgbClr val="1E293B">
              <a:alpha val="40000"/>
            </a:srgbClr>
          </a:solidFill>
          <a:ln cap="flat" cmpd="sng" w="143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2"/>
          <p:cNvSpPr/>
          <p:nvPr/>
        </p:nvSpPr>
        <p:spPr>
          <a:xfrm>
            <a:off x="5715000" y="1285875"/>
            <a:ext cx="3048000" cy="1809600"/>
          </a:xfrm>
          <a:prstGeom prst="roundRect">
            <a:avLst>
              <a:gd fmla="val 6315" name="adj"/>
            </a:avLst>
          </a:prstGeom>
          <a:solidFill>
            <a:srgbClr val="1E293B">
              <a:alpha val="60000"/>
            </a:srgbClr>
          </a:solidFill>
          <a:ln cap="flat" cmpd="sng" w="143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2"/>
          <p:cNvSpPr txBox="1"/>
          <p:nvPr/>
        </p:nvSpPr>
        <p:spPr>
          <a:xfrm>
            <a:off x="5905500" y="1476375"/>
            <a:ext cx="2667000" cy="1428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22C55E"/>
                </a:solidFill>
              </a:rPr>
              <a:t>Clear weather generates the highest demand at 254 average rentals</a:t>
            </a:r>
            <a:r>
              <a:rPr lang="en" sz="1100">
                <a:solidFill>
                  <a:schemeClr val="lt1"/>
                </a:solidFill>
              </a:rPr>
              <a:t>, while </a:t>
            </a:r>
            <a:r>
              <a:rPr b="1" lang="en" sz="1100">
                <a:solidFill>
                  <a:srgbClr val="FF5555"/>
                </a:solidFill>
              </a:rPr>
              <a:t>Heavy Rain/Snow drops to just 94</a:t>
            </a:r>
            <a:r>
              <a:rPr lang="en" sz="1100">
                <a:solidFill>
                  <a:schemeClr val="lt1"/>
                </a:solidFill>
              </a:rPr>
              <a:t>, showing that </a:t>
            </a:r>
            <a:r>
              <a:rPr b="1" lang="en" sz="1100">
                <a:solidFill>
                  <a:schemeClr val="lt1"/>
                </a:solidFill>
              </a:rPr>
              <a:t>weather conditions strongly influence hourly bike rental activity</a:t>
            </a:r>
            <a:r>
              <a:rPr lang="en" sz="1100">
                <a:solidFill>
                  <a:schemeClr val="lt1"/>
                </a:solidFill>
              </a:rPr>
              <a:t>.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60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0" name="Google Shape;210;p22"/>
          <p:cNvSpPr/>
          <p:nvPr/>
        </p:nvSpPr>
        <p:spPr>
          <a:xfrm>
            <a:off x="5715000" y="3286125"/>
            <a:ext cx="1428900" cy="1333500"/>
          </a:xfrm>
          <a:prstGeom prst="roundRect">
            <a:avLst>
              <a:gd fmla="val 8571" name="adj"/>
            </a:avLst>
          </a:prstGeom>
          <a:solidFill>
            <a:srgbClr val="1E293B">
              <a:alpha val="80000"/>
            </a:srgbClr>
          </a:solidFill>
          <a:ln cap="flat" cmpd="sng" w="143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/>
        </p:nvSpPr>
        <p:spPr>
          <a:xfrm>
            <a:off x="5810250" y="3381375"/>
            <a:ext cx="12384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0EA5E9"/>
                </a:solidFill>
                <a:latin typeface="Montserrat"/>
                <a:ea typeface="Montserrat"/>
                <a:cs typeface="Montserrat"/>
                <a:sym typeface="Montserrat"/>
              </a:rPr>
              <a:t>CLEAR WEATHER</a:t>
            </a:r>
            <a:endParaRPr b="1" sz="800">
              <a:solidFill>
                <a:srgbClr val="0EA5E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22C55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254</a:t>
            </a:r>
            <a:endParaRPr b="1" sz="800">
              <a:solidFill>
                <a:srgbClr val="22C55E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15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38BDF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Peak Demand</a:t>
            </a:r>
            <a:endParaRPr b="1" sz="800">
              <a:solidFill>
                <a:srgbClr val="0EA5E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2" name="Google Shape;212;p22"/>
          <p:cNvSpPr/>
          <p:nvPr/>
        </p:nvSpPr>
        <p:spPr>
          <a:xfrm>
            <a:off x="7334250" y="3286125"/>
            <a:ext cx="1428900" cy="1333500"/>
          </a:xfrm>
          <a:prstGeom prst="roundRect">
            <a:avLst>
              <a:gd fmla="val 8571" name="adj"/>
            </a:avLst>
          </a:prstGeom>
          <a:solidFill>
            <a:srgbClr val="1E293B">
              <a:alpha val="60000"/>
            </a:srgbClr>
          </a:solidFill>
          <a:ln cap="flat" cmpd="sng" w="143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2"/>
          <p:cNvSpPr txBox="1"/>
          <p:nvPr/>
        </p:nvSpPr>
        <p:spPr>
          <a:xfrm>
            <a:off x="7429500" y="3381375"/>
            <a:ext cx="12384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rPr>
              <a:t>HEAVY RAIN/SNOW</a:t>
            </a:r>
            <a:endParaRPr b="1" sz="800">
              <a:solidFill>
                <a:srgbClr val="94A3B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5555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94</a:t>
            </a:r>
            <a:endParaRPr b="1" sz="800">
              <a:solidFill>
                <a:srgbClr val="FF55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15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64748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Lowest Demand</a:t>
            </a:r>
            <a:endParaRPr b="1" sz="800">
              <a:solidFill>
                <a:srgbClr val="94A3B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14" name="Google Shape;21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138" y="1460463"/>
            <a:ext cx="5003225" cy="2984724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2"/>
          <p:cNvSpPr/>
          <p:nvPr/>
        </p:nvSpPr>
        <p:spPr>
          <a:xfrm>
            <a:off x="759975" y="1628266"/>
            <a:ext cx="1177200" cy="440400"/>
          </a:xfrm>
          <a:prstGeom prst="ellipse">
            <a:avLst/>
          </a:prstGeom>
          <a:noFill/>
          <a:ln cap="flat" cmpd="sng" w="38100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750"/>
              </a:spcAft>
              <a:buNone/>
            </a:pPr>
            <a:r>
              <a:t/>
            </a:r>
            <a:endParaRPr b="1" sz="1300">
              <a:solidFill>
                <a:srgbClr val="274E13"/>
              </a:solidFill>
            </a:endParaRPr>
          </a:p>
        </p:txBody>
      </p:sp>
      <p:sp>
        <p:nvSpPr>
          <p:cNvPr id="216" name="Google Shape;216;p22"/>
          <p:cNvSpPr txBox="1"/>
          <p:nvPr/>
        </p:nvSpPr>
        <p:spPr>
          <a:xfrm>
            <a:off x="1135875" y="2013825"/>
            <a:ext cx="425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274E13"/>
                </a:solidFill>
              </a:rPr>
              <a:t>254 </a:t>
            </a:r>
            <a:endParaRPr sz="1800">
              <a:solidFill>
                <a:srgbClr val="274E13"/>
              </a:solidFill>
            </a:endParaRPr>
          </a:p>
        </p:txBody>
      </p:sp>
      <p:sp>
        <p:nvSpPr>
          <p:cNvPr id="217" name="Google Shape;217;p22"/>
          <p:cNvSpPr/>
          <p:nvPr/>
        </p:nvSpPr>
        <p:spPr>
          <a:xfrm>
            <a:off x="4208450" y="3095466"/>
            <a:ext cx="1177200" cy="440400"/>
          </a:xfrm>
          <a:prstGeom prst="ellipse">
            <a:avLst/>
          </a:prstGeom>
          <a:noFill/>
          <a:ln cap="flat" cmpd="sng" w="38100">
            <a:solidFill>
              <a:srgbClr val="FF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750"/>
              </a:spcAft>
              <a:buNone/>
            </a:pPr>
            <a:r>
              <a:t/>
            </a:r>
            <a:endParaRPr b="1" sz="1300">
              <a:solidFill>
                <a:srgbClr val="FF5555"/>
              </a:solidFill>
            </a:endParaRPr>
          </a:p>
        </p:txBody>
      </p:sp>
      <p:sp>
        <p:nvSpPr>
          <p:cNvPr id="218" name="Google Shape;218;p22"/>
          <p:cNvSpPr txBox="1"/>
          <p:nvPr/>
        </p:nvSpPr>
        <p:spPr>
          <a:xfrm>
            <a:off x="4584350" y="3535875"/>
            <a:ext cx="425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FF5555"/>
                </a:solidFill>
              </a:rPr>
              <a:t>94</a:t>
            </a:r>
            <a:endParaRPr sz="1800">
              <a:solidFill>
                <a:srgbClr val="FF5555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3"/>
          <p:cNvSpPr/>
          <p:nvPr/>
        </p:nvSpPr>
        <p:spPr>
          <a:xfrm>
            <a:off x="0" y="0"/>
            <a:ext cx="9144000" cy="857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4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3"/>
          <p:cNvSpPr txBox="1"/>
          <p:nvPr/>
        </p:nvSpPr>
        <p:spPr>
          <a:xfrm>
            <a:off x="571500" y="381000"/>
            <a:ext cx="80010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4. </a:t>
            </a:r>
            <a:r>
              <a:rPr b="0" lang="en" sz="16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How did average bike rentals differ across weather conditions during 2011–2012?</a:t>
            </a:r>
            <a:endParaRPr b="0" sz="160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26" name="Google Shape;226;p23"/>
          <p:cNvSpPr/>
          <p:nvPr/>
        </p:nvSpPr>
        <p:spPr>
          <a:xfrm>
            <a:off x="381000" y="1285875"/>
            <a:ext cx="5143500" cy="3333900"/>
          </a:xfrm>
          <a:prstGeom prst="roundRect">
            <a:avLst>
              <a:gd fmla="val 3428" name="adj"/>
            </a:avLst>
          </a:prstGeom>
          <a:solidFill>
            <a:srgbClr val="1E293B">
              <a:alpha val="40000"/>
            </a:srgbClr>
          </a:solidFill>
          <a:ln cap="flat" cmpd="sng" w="143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7" name="Google Shape;227;p23"/>
          <p:cNvPicPr preferRelativeResize="0"/>
          <p:nvPr/>
        </p:nvPicPr>
        <p:blipFill rotWithShape="1">
          <a:blip r:embed="rId3">
            <a:alphaModFix/>
          </a:blip>
          <a:srcRect b="0" l="20" r="10" t="0"/>
          <a:stretch/>
        </p:blipFill>
        <p:spPr>
          <a:xfrm>
            <a:off x="1057275" y="1295400"/>
            <a:ext cx="3791100" cy="33147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28" name="Google Shape;228;p23"/>
          <p:cNvSpPr/>
          <p:nvPr/>
        </p:nvSpPr>
        <p:spPr>
          <a:xfrm>
            <a:off x="5715000" y="1285875"/>
            <a:ext cx="3048000" cy="1809600"/>
          </a:xfrm>
          <a:prstGeom prst="roundRect">
            <a:avLst>
              <a:gd fmla="val 6315" name="adj"/>
            </a:avLst>
          </a:prstGeom>
          <a:solidFill>
            <a:srgbClr val="1E293B">
              <a:alpha val="60000"/>
            </a:srgbClr>
          </a:solidFill>
          <a:ln cap="flat" cmpd="sng" w="143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3"/>
          <p:cNvSpPr txBox="1"/>
          <p:nvPr/>
        </p:nvSpPr>
        <p:spPr>
          <a:xfrm>
            <a:off x="5905500" y="1476375"/>
            <a:ext cx="26670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Weather Correlation</a:t>
            </a:r>
            <a:endParaRPr b="1" sz="1400">
              <a:solidFill>
                <a:srgbClr val="38BDF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" sz="1050">
                <a:solidFill>
                  <a:srgbClr val="F8F8F2"/>
                </a:solidFill>
                <a:latin typeface="Inter"/>
                <a:ea typeface="Inter"/>
                <a:cs typeface="Inter"/>
                <a:sym typeface="Inter"/>
              </a:rPr>
              <a:t>Temperature shows the strongest positive relationship with bike rental demand (r = 0.63). </a:t>
            </a:r>
            <a:r>
              <a:rPr b="0" lang="en" sz="10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Windspeed (r = -0.24) and humidity (r = -0.10) exhibit weak negative associations.</a:t>
            </a:r>
            <a:endParaRPr b="0" sz="1050">
              <a:solidFill>
                <a:srgbClr val="F8F8F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0" name="Google Shape;230;p23"/>
          <p:cNvSpPr/>
          <p:nvPr/>
        </p:nvSpPr>
        <p:spPr>
          <a:xfrm>
            <a:off x="5715000" y="3286125"/>
            <a:ext cx="1428900" cy="1333500"/>
          </a:xfrm>
          <a:prstGeom prst="roundRect">
            <a:avLst>
              <a:gd fmla="val 8571" name="adj"/>
            </a:avLst>
          </a:prstGeom>
          <a:solidFill>
            <a:srgbClr val="1E293B">
              <a:alpha val="80000"/>
            </a:srgbClr>
          </a:solidFill>
          <a:ln cap="flat" cmpd="sng" w="143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3"/>
          <p:cNvSpPr txBox="1"/>
          <p:nvPr/>
        </p:nvSpPr>
        <p:spPr>
          <a:xfrm>
            <a:off x="5810250" y="3381375"/>
            <a:ext cx="123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0EA5E9"/>
                </a:solidFill>
                <a:latin typeface="Montserrat"/>
                <a:ea typeface="Montserrat"/>
                <a:cs typeface="Montserrat"/>
                <a:sym typeface="Montserrat"/>
              </a:rPr>
              <a:t>TEMPERATURE</a:t>
            </a:r>
            <a:endParaRPr b="1" sz="800">
              <a:solidFill>
                <a:srgbClr val="0EA5E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+0.63</a:t>
            </a:r>
            <a:endParaRPr b="1" sz="800">
              <a:solidFill>
                <a:srgbClr val="0EA5E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15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38BDF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Strong Positive</a:t>
            </a:r>
            <a:endParaRPr b="1" sz="800">
              <a:solidFill>
                <a:srgbClr val="0EA5E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2" name="Google Shape;232;p23"/>
          <p:cNvSpPr/>
          <p:nvPr/>
        </p:nvSpPr>
        <p:spPr>
          <a:xfrm>
            <a:off x="7334250" y="3286125"/>
            <a:ext cx="1428900" cy="1333500"/>
          </a:xfrm>
          <a:prstGeom prst="roundRect">
            <a:avLst>
              <a:gd fmla="val 8571" name="adj"/>
            </a:avLst>
          </a:prstGeom>
          <a:solidFill>
            <a:srgbClr val="1E293B">
              <a:alpha val="60000"/>
            </a:srgbClr>
          </a:solidFill>
          <a:ln cap="flat" cmpd="sng" w="143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3"/>
          <p:cNvSpPr txBox="1"/>
          <p:nvPr/>
        </p:nvSpPr>
        <p:spPr>
          <a:xfrm>
            <a:off x="7429500" y="3381375"/>
            <a:ext cx="123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rPr>
              <a:t>WINDSPEED</a:t>
            </a:r>
            <a:endParaRPr b="1" sz="800">
              <a:solidFill>
                <a:srgbClr val="94A3B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-0.24</a:t>
            </a:r>
            <a:endParaRPr b="1" sz="800">
              <a:solidFill>
                <a:srgbClr val="94A3B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15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64748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Weak Negative</a:t>
            </a:r>
            <a:endParaRPr b="1" sz="800">
              <a:solidFill>
                <a:srgbClr val="94A3B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4" name="Google Shape;234;p23"/>
          <p:cNvSpPr/>
          <p:nvPr/>
        </p:nvSpPr>
        <p:spPr>
          <a:xfrm>
            <a:off x="1283525" y="3729000"/>
            <a:ext cx="666900" cy="666900"/>
          </a:xfrm>
          <a:prstGeom prst="ellipse">
            <a:avLst/>
          </a:prstGeom>
          <a:noFill/>
          <a:ln cap="flat" cmpd="sng" w="381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2C55E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4"/>
          <p:cNvSpPr/>
          <p:nvPr/>
        </p:nvSpPr>
        <p:spPr>
          <a:xfrm>
            <a:off x="0" y="0"/>
            <a:ext cx="9144000" cy="857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4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4"/>
          <p:cNvSpPr txBox="1"/>
          <p:nvPr/>
        </p:nvSpPr>
        <p:spPr>
          <a:xfrm>
            <a:off x="571500" y="381000"/>
            <a:ext cx="80010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5. </a:t>
            </a:r>
            <a:r>
              <a:rPr b="0" lang="en" sz="20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How did rental patterns differ between casual and registered users during 2011–2012?</a:t>
            </a:r>
            <a:endParaRPr b="0" sz="200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42" name="Google Shape;242;p24"/>
          <p:cNvSpPr/>
          <p:nvPr/>
        </p:nvSpPr>
        <p:spPr>
          <a:xfrm>
            <a:off x="381000" y="1285875"/>
            <a:ext cx="5143500" cy="3333900"/>
          </a:xfrm>
          <a:prstGeom prst="roundRect">
            <a:avLst>
              <a:gd fmla="val 3428" name="adj"/>
            </a:avLst>
          </a:prstGeom>
          <a:solidFill>
            <a:srgbClr val="1E293B">
              <a:alpha val="40000"/>
            </a:srgbClr>
          </a:solidFill>
          <a:ln cap="flat" cmpd="sng" w="143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4"/>
          <p:cNvSpPr/>
          <p:nvPr/>
        </p:nvSpPr>
        <p:spPr>
          <a:xfrm>
            <a:off x="5715000" y="1285875"/>
            <a:ext cx="3048000" cy="1809600"/>
          </a:xfrm>
          <a:prstGeom prst="roundRect">
            <a:avLst>
              <a:gd fmla="val 6315" name="adj"/>
            </a:avLst>
          </a:prstGeom>
          <a:solidFill>
            <a:srgbClr val="1E293B">
              <a:alpha val="60000"/>
            </a:srgbClr>
          </a:solidFill>
          <a:ln cap="flat" cmpd="sng" w="143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4"/>
          <p:cNvSpPr txBox="1"/>
          <p:nvPr/>
        </p:nvSpPr>
        <p:spPr>
          <a:xfrm>
            <a:off x="5905500" y="1476375"/>
            <a:ext cx="2667000" cy="1428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22C55E"/>
                </a:solidFill>
              </a:rPr>
              <a:t>Registered users dominate weekday rentals, peaking at 5,227 on Thursday</a:t>
            </a:r>
            <a:r>
              <a:rPr b="1" lang="en" sz="1100">
                <a:solidFill>
                  <a:schemeClr val="lt1"/>
                </a:solidFill>
              </a:rPr>
              <a:t>, </a:t>
            </a:r>
            <a:r>
              <a:rPr b="1" lang="en" sz="1100">
                <a:solidFill>
                  <a:srgbClr val="FF9900"/>
                </a:solidFill>
              </a:rPr>
              <a:t>while casual rentals peak at 1,814 on Saturday</a:t>
            </a:r>
            <a:r>
              <a:rPr lang="en" sz="1100">
                <a:solidFill>
                  <a:schemeClr val="lt1"/>
                </a:solidFill>
              </a:rPr>
              <a:t>, showing a clear </a:t>
            </a:r>
            <a:r>
              <a:rPr b="1" lang="en" sz="1100">
                <a:solidFill>
                  <a:schemeClr val="lt1"/>
                </a:solidFill>
              </a:rPr>
              <a:t>weekday vs. weekend usage pattern</a:t>
            </a:r>
            <a:r>
              <a:rPr lang="en" sz="1100">
                <a:solidFill>
                  <a:schemeClr val="lt1"/>
                </a:solidFill>
              </a:rPr>
              <a:t>.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95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5" name="Google Shape;245;p24"/>
          <p:cNvSpPr/>
          <p:nvPr/>
        </p:nvSpPr>
        <p:spPr>
          <a:xfrm>
            <a:off x="5715000" y="3286125"/>
            <a:ext cx="1428900" cy="1333500"/>
          </a:xfrm>
          <a:prstGeom prst="roundRect">
            <a:avLst>
              <a:gd fmla="val 8571" name="adj"/>
            </a:avLst>
          </a:prstGeom>
          <a:solidFill>
            <a:srgbClr val="1E293B">
              <a:alpha val="80000"/>
            </a:srgbClr>
          </a:solidFill>
          <a:ln cap="flat" cmpd="sng" w="143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4"/>
          <p:cNvSpPr txBox="1"/>
          <p:nvPr/>
        </p:nvSpPr>
        <p:spPr>
          <a:xfrm>
            <a:off x="5810250" y="3381375"/>
            <a:ext cx="12384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0EA5E9"/>
                </a:solidFill>
                <a:latin typeface="Montserrat"/>
                <a:ea typeface="Montserrat"/>
                <a:cs typeface="Montserrat"/>
                <a:sym typeface="Montserrat"/>
              </a:rPr>
              <a:t>REGISTERED PEAK</a:t>
            </a:r>
            <a:endParaRPr b="1" sz="800">
              <a:solidFill>
                <a:srgbClr val="0EA5E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225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22C55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5,227</a:t>
            </a:r>
            <a:endParaRPr b="1" sz="800">
              <a:solidFill>
                <a:srgbClr val="22C55E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113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38BDF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Thursday</a:t>
            </a:r>
            <a:endParaRPr b="1" sz="800">
              <a:solidFill>
                <a:srgbClr val="0EA5E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7" name="Google Shape;247;p24"/>
          <p:cNvSpPr/>
          <p:nvPr/>
        </p:nvSpPr>
        <p:spPr>
          <a:xfrm>
            <a:off x="7334250" y="3286125"/>
            <a:ext cx="1428900" cy="1333500"/>
          </a:xfrm>
          <a:prstGeom prst="roundRect">
            <a:avLst>
              <a:gd fmla="val 8571" name="adj"/>
            </a:avLst>
          </a:prstGeom>
          <a:solidFill>
            <a:srgbClr val="1E293B">
              <a:alpha val="60000"/>
            </a:srgbClr>
          </a:solidFill>
          <a:ln cap="flat" cmpd="sng" w="143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4"/>
          <p:cNvSpPr txBox="1"/>
          <p:nvPr/>
        </p:nvSpPr>
        <p:spPr>
          <a:xfrm>
            <a:off x="7429500" y="3381375"/>
            <a:ext cx="12384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rPr>
              <a:t>CASUAL PEAK</a:t>
            </a:r>
            <a:endParaRPr b="1" sz="800">
              <a:solidFill>
                <a:srgbClr val="94A3B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225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99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1,814</a:t>
            </a:r>
            <a:endParaRPr b="1" sz="800">
              <a:solidFill>
                <a:srgbClr val="FF99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113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64748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Saturday</a:t>
            </a:r>
            <a:endParaRPr b="1" sz="800">
              <a:solidFill>
                <a:srgbClr val="94A3B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49" name="Google Shape;24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5400" y="1397375"/>
            <a:ext cx="5214700" cy="31109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4"/>
          <p:cNvSpPr/>
          <p:nvPr/>
        </p:nvSpPr>
        <p:spPr>
          <a:xfrm>
            <a:off x="2833325" y="1590300"/>
            <a:ext cx="834900" cy="338700"/>
          </a:xfrm>
          <a:prstGeom prst="ellipse">
            <a:avLst/>
          </a:prstGeom>
          <a:noFill/>
          <a:ln cap="flat" cmpd="sng" w="381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750"/>
              </a:spcAft>
              <a:buNone/>
            </a:pPr>
            <a:r>
              <a:t/>
            </a:r>
            <a:endParaRPr sz="1300">
              <a:solidFill>
                <a:srgbClr val="22C55E"/>
              </a:solidFill>
            </a:endParaRPr>
          </a:p>
        </p:txBody>
      </p:sp>
      <p:sp>
        <p:nvSpPr>
          <p:cNvPr id="251" name="Google Shape;251;p24"/>
          <p:cNvSpPr/>
          <p:nvPr/>
        </p:nvSpPr>
        <p:spPr>
          <a:xfrm>
            <a:off x="3988225" y="3042675"/>
            <a:ext cx="834900" cy="338700"/>
          </a:xfrm>
          <a:prstGeom prst="ellipse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75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highlight>
                <a:srgbClr val="FF5555"/>
              </a:highlight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5"/>
          <p:cNvSpPr/>
          <p:nvPr/>
        </p:nvSpPr>
        <p:spPr>
          <a:xfrm>
            <a:off x="0" y="0"/>
            <a:ext cx="9144000" cy="857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4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5"/>
          <p:cNvSpPr txBox="1"/>
          <p:nvPr>
            <p:ph type="title"/>
          </p:nvPr>
        </p:nvSpPr>
        <p:spPr>
          <a:xfrm>
            <a:off x="571500" y="381000"/>
            <a:ext cx="80010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0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6. Which user segment contributed the largest share of total rentals over the two-year period?</a:t>
            </a:r>
            <a:endParaRPr b="0" sz="200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58" name="Google Shape;258;p25"/>
          <p:cNvSpPr/>
          <p:nvPr/>
        </p:nvSpPr>
        <p:spPr>
          <a:xfrm>
            <a:off x="381000" y="987300"/>
            <a:ext cx="5143500" cy="4028700"/>
          </a:xfrm>
          <a:prstGeom prst="roundRect">
            <a:avLst>
              <a:gd fmla="val 3428" name="adj"/>
            </a:avLst>
          </a:prstGeom>
          <a:solidFill>
            <a:srgbClr val="1E293B">
              <a:alpha val="40000"/>
            </a:srgbClr>
          </a:solidFill>
          <a:ln cap="flat" cmpd="sng" w="143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5"/>
          <p:cNvSpPr/>
          <p:nvPr/>
        </p:nvSpPr>
        <p:spPr>
          <a:xfrm>
            <a:off x="5715000" y="1285875"/>
            <a:ext cx="3048000" cy="1809600"/>
          </a:xfrm>
          <a:prstGeom prst="roundRect">
            <a:avLst>
              <a:gd fmla="val 6315" name="adj"/>
            </a:avLst>
          </a:prstGeom>
          <a:solidFill>
            <a:srgbClr val="1E293B">
              <a:alpha val="60000"/>
            </a:srgbClr>
          </a:solidFill>
          <a:ln cap="flat" cmpd="sng" w="143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0" name="Google Shape;260;p25"/>
          <p:cNvGrpSpPr/>
          <p:nvPr/>
        </p:nvGrpSpPr>
        <p:grpSpPr>
          <a:xfrm>
            <a:off x="5905500" y="1476375"/>
            <a:ext cx="2667000" cy="1428900"/>
            <a:chOff x="0" y="0"/>
            <a:chExt cx="2667000" cy="1428900"/>
          </a:xfrm>
        </p:grpSpPr>
        <p:sp>
          <p:nvSpPr>
            <p:cNvPr id="261" name="Google Shape;261;p25"/>
            <p:cNvSpPr/>
            <p:nvPr/>
          </p:nvSpPr>
          <p:spPr>
            <a:xfrm>
              <a:off x="0" y="0"/>
              <a:ext cx="2667000" cy="1428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25"/>
            <p:cNvSpPr txBox="1"/>
            <p:nvPr/>
          </p:nvSpPr>
          <p:spPr>
            <a:xfrm>
              <a:off x="0" y="0"/>
              <a:ext cx="26670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100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600"/>
                </a:spcAft>
                <a:buNone/>
              </a:pPr>
              <a:r>
                <a:rPr b="0" lang="en" sz="1100">
                  <a:solidFill>
                    <a:srgbClr val="F8F8F2"/>
                  </a:solidFill>
                  <a:latin typeface="Inter"/>
                  <a:ea typeface="Inter"/>
                  <a:cs typeface="Inter"/>
                  <a:sym typeface="Inter"/>
                </a:rPr>
                <a:t>Registered users contributed the largest share of total rentals during 2011–2012, generating </a:t>
              </a:r>
              <a:r>
                <a:rPr b="1" lang="en" sz="11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2,672,662 rentals (81.17%)</a:t>
              </a:r>
              <a:r>
                <a:rPr b="0" lang="en" sz="1100">
                  <a:solidFill>
                    <a:srgbClr val="F8F8F2"/>
                  </a:solidFill>
                  <a:latin typeface="Inter"/>
                  <a:ea typeface="Inter"/>
                  <a:cs typeface="Inter"/>
                  <a:sym typeface="Inter"/>
                </a:rPr>
                <a:t>, while casual users contributed 620,017 rentals (18.83%).</a:t>
              </a:r>
              <a:endParaRPr b="0" sz="1100">
                <a:solidFill>
                  <a:srgbClr val="F8F8F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263" name="Google Shape;263;p25"/>
          <p:cNvSpPr/>
          <p:nvPr/>
        </p:nvSpPr>
        <p:spPr>
          <a:xfrm>
            <a:off x="5715000" y="3286125"/>
            <a:ext cx="1428900" cy="1333500"/>
          </a:xfrm>
          <a:prstGeom prst="roundRect">
            <a:avLst>
              <a:gd fmla="val 8571" name="adj"/>
            </a:avLst>
          </a:prstGeom>
          <a:solidFill>
            <a:srgbClr val="1E293B">
              <a:alpha val="80000"/>
            </a:srgbClr>
          </a:solidFill>
          <a:ln cap="flat" cmpd="sng" w="143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4" name="Google Shape;264;p25"/>
          <p:cNvGrpSpPr/>
          <p:nvPr/>
        </p:nvGrpSpPr>
        <p:grpSpPr>
          <a:xfrm>
            <a:off x="5810250" y="3381375"/>
            <a:ext cx="1238400" cy="1143000"/>
            <a:chOff x="0" y="0"/>
            <a:chExt cx="1238400" cy="1143000"/>
          </a:xfrm>
        </p:grpSpPr>
        <p:sp>
          <p:nvSpPr>
            <p:cNvPr id="265" name="Google Shape;265;p25"/>
            <p:cNvSpPr/>
            <p:nvPr/>
          </p:nvSpPr>
          <p:spPr>
            <a:xfrm>
              <a:off x="0" y="0"/>
              <a:ext cx="1238400" cy="1143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25"/>
            <p:cNvSpPr txBox="1"/>
            <p:nvPr/>
          </p:nvSpPr>
          <p:spPr>
            <a:xfrm>
              <a:off x="0" y="0"/>
              <a:ext cx="12384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0EA5E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REGISTERED USERS</a:t>
              </a:r>
              <a:endParaRPr b="1" sz="800">
                <a:solidFill>
                  <a:srgbClr val="0EA5E9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38BDF8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81.17%</a:t>
              </a:r>
              <a:endParaRPr b="1" sz="800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38BDF8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2.67M Rentals</a:t>
              </a:r>
              <a:endParaRPr b="1" sz="800">
                <a:solidFill>
                  <a:srgbClr val="0EA5E9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267" name="Google Shape;267;p25"/>
          <p:cNvSpPr/>
          <p:nvPr/>
        </p:nvSpPr>
        <p:spPr>
          <a:xfrm>
            <a:off x="7334250" y="3286125"/>
            <a:ext cx="1428900" cy="1333500"/>
          </a:xfrm>
          <a:prstGeom prst="roundRect">
            <a:avLst>
              <a:gd fmla="val 8571" name="adj"/>
            </a:avLst>
          </a:prstGeom>
          <a:solidFill>
            <a:srgbClr val="1E293B">
              <a:alpha val="60000"/>
            </a:srgbClr>
          </a:solidFill>
          <a:ln cap="flat" cmpd="sng" w="143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8" name="Google Shape;268;p25"/>
          <p:cNvGrpSpPr/>
          <p:nvPr/>
        </p:nvGrpSpPr>
        <p:grpSpPr>
          <a:xfrm>
            <a:off x="7429500" y="3381375"/>
            <a:ext cx="1238400" cy="1143000"/>
            <a:chOff x="0" y="0"/>
            <a:chExt cx="1238400" cy="1143000"/>
          </a:xfrm>
        </p:grpSpPr>
        <p:sp>
          <p:nvSpPr>
            <p:cNvPr id="269" name="Google Shape;269;p25"/>
            <p:cNvSpPr/>
            <p:nvPr/>
          </p:nvSpPr>
          <p:spPr>
            <a:xfrm>
              <a:off x="0" y="0"/>
              <a:ext cx="1238400" cy="1143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25"/>
            <p:cNvSpPr txBox="1"/>
            <p:nvPr/>
          </p:nvSpPr>
          <p:spPr>
            <a:xfrm>
              <a:off x="0" y="0"/>
              <a:ext cx="12384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94A3B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CASUAL USERS</a:t>
              </a:r>
              <a:endParaRPr b="1" sz="800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EFEFEF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18.83%</a:t>
              </a:r>
              <a:endParaRPr b="1" sz="800">
                <a:solidFill>
                  <a:srgbClr val="EFEFE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64748B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620K Rentals </a:t>
              </a:r>
              <a:endParaRPr b="1" sz="800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pic>
        <p:nvPicPr>
          <p:cNvPr id="271" name="Google Shape;271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69416" y="1081388"/>
            <a:ext cx="3566674" cy="3840524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5"/>
          <p:cNvSpPr txBox="1"/>
          <p:nvPr/>
        </p:nvSpPr>
        <p:spPr>
          <a:xfrm>
            <a:off x="2088550" y="2147825"/>
            <a:ext cx="6987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</a:rPr>
              <a:t>18.83%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273" name="Google Shape;273;p25"/>
          <p:cNvSpPr txBox="1"/>
          <p:nvPr/>
        </p:nvSpPr>
        <p:spPr>
          <a:xfrm>
            <a:off x="3023200" y="3234375"/>
            <a:ext cx="6987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</a:rPr>
              <a:t>81.17%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6"/>
          <p:cNvSpPr/>
          <p:nvPr/>
        </p:nvSpPr>
        <p:spPr>
          <a:xfrm>
            <a:off x="0" y="0"/>
            <a:ext cx="9144000" cy="857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4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6"/>
          <p:cNvSpPr txBox="1"/>
          <p:nvPr/>
        </p:nvSpPr>
        <p:spPr>
          <a:xfrm>
            <a:off x="571500" y="381000"/>
            <a:ext cx="80010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Demand Grouping</a:t>
            </a:r>
            <a:endParaRPr sz="200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b. Hourly</a:t>
            </a:r>
            <a:endParaRPr sz="200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80" name="Google Shape;280;p26"/>
          <p:cNvSpPr/>
          <p:nvPr/>
        </p:nvSpPr>
        <p:spPr>
          <a:xfrm>
            <a:off x="381000" y="1285875"/>
            <a:ext cx="5143500" cy="3333900"/>
          </a:xfrm>
          <a:prstGeom prst="roundRect">
            <a:avLst>
              <a:gd fmla="val 3428" name="adj"/>
            </a:avLst>
          </a:prstGeom>
          <a:solidFill>
            <a:srgbClr val="1E293B">
              <a:alpha val="40000"/>
            </a:srgbClr>
          </a:solidFill>
          <a:ln cap="flat" cmpd="sng" w="143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1" name="Google Shape;281;p26"/>
          <p:cNvPicPr preferRelativeResize="0"/>
          <p:nvPr/>
        </p:nvPicPr>
        <p:blipFill rotWithShape="1">
          <a:blip r:embed="rId4">
            <a:alphaModFix/>
          </a:blip>
          <a:srcRect b="-26520" l="0" r="0" t="114"/>
          <a:stretch/>
        </p:blipFill>
        <p:spPr>
          <a:xfrm>
            <a:off x="476250" y="1619250"/>
            <a:ext cx="4953000" cy="2667000"/>
          </a:xfrm>
          <a:prstGeom prst="roundRect">
            <a:avLst>
              <a:gd fmla="val 2857" name="adj"/>
            </a:avLst>
          </a:prstGeom>
          <a:noFill/>
          <a:ln>
            <a:noFill/>
          </a:ln>
        </p:spPr>
      </p:pic>
      <p:sp>
        <p:nvSpPr>
          <p:cNvPr id="282" name="Google Shape;282;p26"/>
          <p:cNvSpPr/>
          <p:nvPr/>
        </p:nvSpPr>
        <p:spPr>
          <a:xfrm>
            <a:off x="5715000" y="1285875"/>
            <a:ext cx="3048000" cy="1809600"/>
          </a:xfrm>
          <a:prstGeom prst="roundRect">
            <a:avLst>
              <a:gd fmla="val 6316" name="adj"/>
            </a:avLst>
          </a:prstGeom>
          <a:solidFill>
            <a:srgbClr val="1E293B">
              <a:alpha val="60000"/>
            </a:srgbClr>
          </a:solidFill>
          <a:ln cap="flat" cmpd="sng" w="143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3" name="Google Shape;283;p26"/>
          <p:cNvGrpSpPr/>
          <p:nvPr/>
        </p:nvGrpSpPr>
        <p:grpSpPr>
          <a:xfrm>
            <a:off x="5905500" y="1476375"/>
            <a:ext cx="2667000" cy="1428900"/>
            <a:chOff x="0" y="0"/>
            <a:chExt cx="2667000" cy="1428900"/>
          </a:xfrm>
        </p:grpSpPr>
        <p:sp>
          <p:nvSpPr>
            <p:cNvPr id="284" name="Google Shape;284;p26"/>
            <p:cNvSpPr/>
            <p:nvPr/>
          </p:nvSpPr>
          <p:spPr>
            <a:xfrm>
              <a:off x="0" y="0"/>
              <a:ext cx="2667000" cy="1428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26"/>
            <p:cNvSpPr txBox="1"/>
            <p:nvPr/>
          </p:nvSpPr>
          <p:spPr>
            <a:xfrm>
              <a:off x="0" y="0"/>
              <a:ext cx="26670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38BDF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Demand Grouping</a:t>
              </a:r>
              <a:endParaRPr b="1" sz="1400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600"/>
                </a:spcAft>
                <a:buNone/>
              </a:pPr>
              <a:r>
                <a:rPr b="0" lang="en" sz="1050">
                  <a:solidFill>
                    <a:srgbClr val="F8F8F2"/>
                  </a:solidFill>
                  <a:latin typeface="Inter"/>
                  <a:ea typeface="Inter"/>
                  <a:cs typeface="Inter"/>
                  <a:sym typeface="Inter"/>
                </a:rPr>
                <a:t>Bike rentals are busiest during morning and evening commuting hours—peaking at </a:t>
              </a:r>
              <a:r>
                <a:rPr b="1" lang="en" sz="1050">
                  <a:solidFill>
                    <a:srgbClr val="22C55E"/>
                  </a:solidFill>
                  <a:latin typeface="Inter"/>
                  <a:ea typeface="Inter"/>
                  <a:cs typeface="Inter"/>
                  <a:sym typeface="Inter"/>
                </a:rPr>
                <a:t>17:00</a:t>
              </a:r>
              <a:r>
                <a:rPr b="0" lang="en" sz="1050">
                  <a:solidFill>
                    <a:srgbClr val="F8F8F2"/>
                  </a:solidFill>
                  <a:latin typeface="Inter"/>
                  <a:ea typeface="Inter"/>
                  <a:cs typeface="Inter"/>
                  <a:sym typeface="Inter"/>
                </a:rPr>
                <a:t>—and lowest between midnight and early morning.</a:t>
              </a:r>
              <a:endParaRPr b="0" sz="1050">
                <a:solidFill>
                  <a:srgbClr val="F8F8F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286" name="Google Shape;286;p26"/>
          <p:cNvSpPr/>
          <p:nvPr/>
        </p:nvSpPr>
        <p:spPr>
          <a:xfrm>
            <a:off x="5715000" y="3286125"/>
            <a:ext cx="1428900" cy="1333500"/>
          </a:xfrm>
          <a:prstGeom prst="roundRect">
            <a:avLst>
              <a:gd fmla="val 8571" name="adj"/>
            </a:avLst>
          </a:prstGeom>
          <a:solidFill>
            <a:srgbClr val="1E293B">
              <a:alpha val="80000"/>
            </a:srgbClr>
          </a:solidFill>
          <a:ln cap="flat" cmpd="sng" w="143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7" name="Google Shape;287;p26"/>
          <p:cNvGrpSpPr/>
          <p:nvPr/>
        </p:nvGrpSpPr>
        <p:grpSpPr>
          <a:xfrm>
            <a:off x="5810250" y="3381375"/>
            <a:ext cx="1238400" cy="1143000"/>
            <a:chOff x="0" y="0"/>
            <a:chExt cx="1238400" cy="1143000"/>
          </a:xfrm>
        </p:grpSpPr>
        <p:sp>
          <p:nvSpPr>
            <p:cNvPr id="288" name="Google Shape;288;p26"/>
            <p:cNvSpPr/>
            <p:nvPr/>
          </p:nvSpPr>
          <p:spPr>
            <a:xfrm>
              <a:off x="0" y="0"/>
              <a:ext cx="1238400" cy="1143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26"/>
            <p:cNvSpPr txBox="1"/>
            <p:nvPr/>
          </p:nvSpPr>
          <p:spPr>
            <a:xfrm>
              <a:off x="0" y="0"/>
              <a:ext cx="12384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0EA5E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PEAK HOUR</a:t>
              </a:r>
              <a:endParaRPr b="1" sz="800">
                <a:solidFill>
                  <a:srgbClr val="0EA5E9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22C55E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17:00</a:t>
              </a:r>
              <a:endParaRPr b="1" sz="800">
                <a:solidFill>
                  <a:srgbClr val="0EA5E9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38BDF8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~460 Rentals</a:t>
              </a:r>
              <a:endParaRPr b="1" sz="800">
                <a:solidFill>
                  <a:srgbClr val="0EA5E9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290" name="Google Shape;290;p26"/>
          <p:cNvSpPr/>
          <p:nvPr/>
        </p:nvSpPr>
        <p:spPr>
          <a:xfrm>
            <a:off x="7334250" y="3286125"/>
            <a:ext cx="1428900" cy="1333500"/>
          </a:xfrm>
          <a:prstGeom prst="roundRect">
            <a:avLst>
              <a:gd fmla="val 8571" name="adj"/>
            </a:avLst>
          </a:prstGeom>
          <a:solidFill>
            <a:srgbClr val="1E293B">
              <a:alpha val="60000"/>
            </a:srgbClr>
          </a:solidFill>
          <a:ln cap="flat" cmpd="sng" w="143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1" name="Google Shape;291;p26"/>
          <p:cNvGrpSpPr/>
          <p:nvPr/>
        </p:nvGrpSpPr>
        <p:grpSpPr>
          <a:xfrm>
            <a:off x="7429500" y="3381375"/>
            <a:ext cx="1238400" cy="1143000"/>
            <a:chOff x="0" y="0"/>
            <a:chExt cx="1238400" cy="1143000"/>
          </a:xfrm>
        </p:grpSpPr>
        <p:sp>
          <p:nvSpPr>
            <p:cNvPr id="292" name="Google Shape;292;p26"/>
            <p:cNvSpPr/>
            <p:nvPr/>
          </p:nvSpPr>
          <p:spPr>
            <a:xfrm>
              <a:off x="0" y="0"/>
              <a:ext cx="1238400" cy="1143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26"/>
            <p:cNvSpPr txBox="1"/>
            <p:nvPr/>
          </p:nvSpPr>
          <p:spPr>
            <a:xfrm>
              <a:off x="0" y="0"/>
              <a:ext cx="12384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94A3B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LOWEST HOUR</a:t>
              </a:r>
              <a:endParaRPr b="1" sz="800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FF5555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04:00</a:t>
              </a:r>
              <a:endParaRPr b="1" sz="800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64748B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Min Demand</a:t>
              </a:r>
              <a:endParaRPr b="1" sz="800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7"/>
          <p:cNvSpPr/>
          <p:nvPr/>
        </p:nvSpPr>
        <p:spPr>
          <a:xfrm>
            <a:off x="0" y="0"/>
            <a:ext cx="9144000" cy="857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4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9" name="Google Shape;299;p27"/>
          <p:cNvGrpSpPr/>
          <p:nvPr/>
        </p:nvGrpSpPr>
        <p:grpSpPr>
          <a:xfrm>
            <a:off x="571500" y="381000"/>
            <a:ext cx="8001000" cy="666900"/>
            <a:chOff x="0" y="0"/>
            <a:chExt cx="8001000" cy="666900"/>
          </a:xfrm>
        </p:grpSpPr>
        <p:sp>
          <p:nvSpPr>
            <p:cNvPr id="300" name="Google Shape;300;p27"/>
            <p:cNvSpPr/>
            <p:nvPr/>
          </p:nvSpPr>
          <p:spPr>
            <a:xfrm>
              <a:off x="0" y="0"/>
              <a:ext cx="80010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27"/>
            <p:cNvSpPr txBox="1"/>
            <p:nvPr/>
          </p:nvSpPr>
          <p:spPr>
            <a:xfrm>
              <a:off x="0" y="0"/>
              <a:ext cx="8001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000">
                  <a:solidFill>
                    <a:srgbClr val="FFFFFF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Demand Grouping</a:t>
              </a:r>
              <a:endParaRPr b="0" sz="20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38BDF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</a:t>
              </a:r>
              <a:r>
                <a:rPr b="1" lang="en" sz="1200">
                  <a:solidFill>
                    <a:srgbClr val="38BDF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. </a:t>
              </a:r>
              <a:r>
                <a:rPr b="1" lang="en" sz="1200">
                  <a:solidFill>
                    <a:srgbClr val="38BDF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Daily</a:t>
              </a:r>
              <a:endParaRPr b="1" sz="1200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302" name="Google Shape;302;p27"/>
          <p:cNvSpPr/>
          <p:nvPr/>
        </p:nvSpPr>
        <p:spPr>
          <a:xfrm>
            <a:off x="381000" y="1285875"/>
            <a:ext cx="5143500" cy="3333900"/>
          </a:xfrm>
          <a:prstGeom prst="roundRect">
            <a:avLst>
              <a:gd fmla="val 3428" name="adj"/>
            </a:avLst>
          </a:prstGeom>
          <a:solidFill>
            <a:srgbClr val="1E293B">
              <a:alpha val="40000"/>
            </a:srgbClr>
          </a:solidFill>
          <a:ln cap="flat" cmpd="sng" w="143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3" name="Google Shape;303;p27"/>
          <p:cNvPicPr preferRelativeResize="0"/>
          <p:nvPr/>
        </p:nvPicPr>
        <p:blipFill rotWithShape="1">
          <a:blip r:embed="rId4">
            <a:alphaModFix/>
          </a:blip>
          <a:srcRect b="169" l="0" r="0" t="159"/>
          <a:stretch/>
        </p:blipFill>
        <p:spPr>
          <a:xfrm>
            <a:off x="476250" y="1905000"/>
            <a:ext cx="4953000" cy="2095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7"/>
          <p:cNvSpPr/>
          <p:nvPr/>
        </p:nvSpPr>
        <p:spPr>
          <a:xfrm>
            <a:off x="5715000" y="1285875"/>
            <a:ext cx="3048000" cy="1809600"/>
          </a:xfrm>
          <a:prstGeom prst="roundRect">
            <a:avLst>
              <a:gd fmla="val 6315" name="adj"/>
            </a:avLst>
          </a:prstGeom>
          <a:solidFill>
            <a:srgbClr val="1E293B">
              <a:alpha val="60000"/>
            </a:srgbClr>
          </a:solidFill>
          <a:ln cap="flat" cmpd="sng" w="143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05" name="Google Shape;305;p27"/>
          <p:cNvGrpSpPr/>
          <p:nvPr/>
        </p:nvGrpSpPr>
        <p:grpSpPr>
          <a:xfrm>
            <a:off x="5905500" y="1476375"/>
            <a:ext cx="2667000" cy="1428900"/>
            <a:chOff x="0" y="0"/>
            <a:chExt cx="2667000" cy="1428900"/>
          </a:xfrm>
        </p:grpSpPr>
        <p:sp>
          <p:nvSpPr>
            <p:cNvPr id="306" name="Google Shape;306;p27"/>
            <p:cNvSpPr/>
            <p:nvPr/>
          </p:nvSpPr>
          <p:spPr>
            <a:xfrm>
              <a:off x="0" y="0"/>
              <a:ext cx="2667000" cy="1428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27"/>
            <p:cNvSpPr txBox="1"/>
            <p:nvPr/>
          </p:nvSpPr>
          <p:spPr>
            <a:xfrm>
              <a:off x="0" y="0"/>
              <a:ext cx="26670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38BDF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Daily Demand</a:t>
              </a:r>
              <a:endParaRPr b="1" sz="1400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F8F8F2"/>
                  </a:solidFill>
                  <a:latin typeface="Inter"/>
                  <a:ea typeface="Inter"/>
                  <a:cs typeface="Inter"/>
                  <a:sym typeface="Inter"/>
                </a:rPr>
                <a:t>Bike rental demand increases throughout the workweek, peaks on </a:t>
              </a:r>
              <a:r>
                <a:rPr b="1" lang="en" sz="1050">
                  <a:solidFill>
                    <a:srgbClr val="22C55E"/>
                  </a:solidFill>
                  <a:latin typeface="Inter"/>
                  <a:ea typeface="Inter"/>
                  <a:cs typeface="Inter"/>
                  <a:sym typeface="Inter"/>
                </a:rPr>
                <a:t>Friday</a:t>
              </a:r>
              <a:r>
                <a:rPr b="0" lang="en" sz="1050">
                  <a:solidFill>
                    <a:srgbClr val="F8F8F2"/>
                  </a:solidFill>
                  <a:latin typeface="Inter"/>
                  <a:ea typeface="Inter"/>
                  <a:cs typeface="Inter"/>
                  <a:sym typeface="Inter"/>
                </a:rPr>
                <a:t>, and declines over the weekend, with </a:t>
              </a:r>
              <a:r>
                <a:rPr b="1" lang="en" sz="1050">
                  <a:solidFill>
                    <a:srgbClr val="FF5555"/>
                  </a:solidFill>
                  <a:latin typeface="Inter"/>
                  <a:ea typeface="Inter"/>
                  <a:cs typeface="Inter"/>
                  <a:sym typeface="Inter"/>
                </a:rPr>
                <a:t>Sunday</a:t>
              </a:r>
              <a:r>
                <a:rPr b="0" lang="en" sz="1050">
                  <a:solidFill>
                    <a:srgbClr val="F8F8F2"/>
                  </a:solidFill>
                  <a:latin typeface="Inter"/>
                  <a:ea typeface="Inter"/>
                  <a:cs typeface="Inter"/>
                  <a:sym typeface="Inter"/>
                </a:rPr>
                <a:t> recording the lowest demand.</a:t>
              </a:r>
              <a:endParaRPr b="0" sz="1050">
                <a:solidFill>
                  <a:srgbClr val="F8F8F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308" name="Google Shape;308;p27"/>
          <p:cNvSpPr/>
          <p:nvPr/>
        </p:nvSpPr>
        <p:spPr>
          <a:xfrm>
            <a:off x="5715000" y="3286125"/>
            <a:ext cx="1428900" cy="1333500"/>
          </a:xfrm>
          <a:prstGeom prst="roundRect">
            <a:avLst>
              <a:gd fmla="val 8571" name="adj"/>
            </a:avLst>
          </a:prstGeom>
          <a:solidFill>
            <a:srgbClr val="1E293B">
              <a:alpha val="80000"/>
            </a:srgbClr>
          </a:solidFill>
          <a:ln cap="flat" cmpd="sng" w="143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09" name="Google Shape;309;p27"/>
          <p:cNvGrpSpPr/>
          <p:nvPr/>
        </p:nvGrpSpPr>
        <p:grpSpPr>
          <a:xfrm>
            <a:off x="5810250" y="3381375"/>
            <a:ext cx="1238400" cy="1143000"/>
            <a:chOff x="0" y="0"/>
            <a:chExt cx="1238400" cy="1143000"/>
          </a:xfrm>
        </p:grpSpPr>
        <p:sp>
          <p:nvSpPr>
            <p:cNvPr id="310" name="Google Shape;310;p27"/>
            <p:cNvSpPr/>
            <p:nvPr/>
          </p:nvSpPr>
          <p:spPr>
            <a:xfrm>
              <a:off x="0" y="0"/>
              <a:ext cx="1238400" cy="1143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27"/>
            <p:cNvSpPr txBox="1"/>
            <p:nvPr/>
          </p:nvSpPr>
          <p:spPr>
            <a:xfrm>
              <a:off x="0" y="0"/>
              <a:ext cx="12384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22C55E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PEAK DAY</a:t>
              </a:r>
              <a:endParaRPr b="1" sz="800">
                <a:solidFill>
                  <a:srgbClr val="22C55E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FFFFFF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Friday</a:t>
              </a:r>
              <a:endParaRPr b="1" sz="800">
                <a:solidFill>
                  <a:srgbClr val="22C55E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38BDF8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High Demand</a:t>
              </a:r>
              <a:endParaRPr b="1" sz="800">
                <a:solidFill>
                  <a:srgbClr val="22C55E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312" name="Google Shape;312;p27"/>
          <p:cNvSpPr/>
          <p:nvPr/>
        </p:nvSpPr>
        <p:spPr>
          <a:xfrm>
            <a:off x="7334250" y="3286125"/>
            <a:ext cx="1428900" cy="1333500"/>
          </a:xfrm>
          <a:prstGeom prst="roundRect">
            <a:avLst>
              <a:gd fmla="val 8571" name="adj"/>
            </a:avLst>
          </a:prstGeom>
          <a:solidFill>
            <a:srgbClr val="1E293B">
              <a:alpha val="60000"/>
            </a:srgbClr>
          </a:solidFill>
          <a:ln cap="flat" cmpd="sng" w="143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3" name="Google Shape;313;p27"/>
          <p:cNvGrpSpPr/>
          <p:nvPr/>
        </p:nvGrpSpPr>
        <p:grpSpPr>
          <a:xfrm>
            <a:off x="7429500" y="3381375"/>
            <a:ext cx="1238400" cy="1143000"/>
            <a:chOff x="0" y="0"/>
            <a:chExt cx="1238400" cy="1143000"/>
          </a:xfrm>
        </p:grpSpPr>
        <p:sp>
          <p:nvSpPr>
            <p:cNvPr id="314" name="Google Shape;314;p27"/>
            <p:cNvSpPr/>
            <p:nvPr/>
          </p:nvSpPr>
          <p:spPr>
            <a:xfrm>
              <a:off x="0" y="0"/>
              <a:ext cx="1238400" cy="1143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27"/>
            <p:cNvSpPr txBox="1"/>
            <p:nvPr/>
          </p:nvSpPr>
          <p:spPr>
            <a:xfrm>
              <a:off x="0" y="0"/>
              <a:ext cx="12384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94A3B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LOWEST DAY</a:t>
              </a:r>
              <a:endParaRPr b="1" sz="800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FF5555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Sunday</a:t>
              </a:r>
              <a:endParaRPr b="1" sz="800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64748B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Low Demand</a:t>
              </a:r>
              <a:endParaRPr b="1" sz="800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8"/>
          <p:cNvSpPr/>
          <p:nvPr/>
        </p:nvSpPr>
        <p:spPr>
          <a:xfrm>
            <a:off x="0" y="0"/>
            <a:ext cx="9144000" cy="857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4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1" name="Google Shape;321;p28"/>
          <p:cNvGrpSpPr/>
          <p:nvPr/>
        </p:nvGrpSpPr>
        <p:grpSpPr>
          <a:xfrm>
            <a:off x="571500" y="381000"/>
            <a:ext cx="8001000" cy="571500"/>
            <a:chOff x="0" y="0"/>
            <a:chExt cx="8001000" cy="571500"/>
          </a:xfrm>
        </p:grpSpPr>
        <p:sp>
          <p:nvSpPr>
            <p:cNvPr id="322" name="Google Shape;322;p28"/>
            <p:cNvSpPr/>
            <p:nvPr/>
          </p:nvSpPr>
          <p:spPr>
            <a:xfrm>
              <a:off x="0" y="0"/>
              <a:ext cx="80010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28"/>
            <p:cNvSpPr txBox="1"/>
            <p:nvPr/>
          </p:nvSpPr>
          <p:spPr>
            <a:xfrm>
              <a:off x="0" y="0"/>
              <a:ext cx="8001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400">
                  <a:solidFill>
                    <a:srgbClr val="FFFFFF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Recommendation Actions</a:t>
              </a:r>
              <a:endParaRPr b="0" sz="24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</p:grpSp>
      <p:grpSp>
        <p:nvGrpSpPr>
          <p:cNvPr id="324" name="Google Shape;324;p28"/>
          <p:cNvGrpSpPr/>
          <p:nvPr/>
        </p:nvGrpSpPr>
        <p:grpSpPr>
          <a:xfrm>
            <a:off x="476250" y="1238250"/>
            <a:ext cx="3905400" cy="1047900"/>
            <a:chOff x="0" y="0"/>
            <a:chExt cx="3905400" cy="1047900"/>
          </a:xfrm>
        </p:grpSpPr>
        <p:sp>
          <p:nvSpPr>
            <p:cNvPr id="325" name="Google Shape;325;p28"/>
            <p:cNvSpPr/>
            <p:nvPr/>
          </p:nvSpPr>
          <p:spPr>
            <a:xfrm>
              <a:off x="0" y="0"/>
              <a:ext cx="3905400" cy="1047900"/>
            </a:xfrm>
            <a:prstGeom prst="roundRect">
              <a:avLst>
                <a:gd fmla="val 7272" name="adj"/>
              </a:avLst>
            </a:prstGeom>
            <a:solidFill>
              <a:srgbClr val="1E293B">
                <a:alpha val="60000"/>
              </a:srgbClr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28"/>
            <p:cNvSpPr txBox="1"/>
            <p:nvPr/>
          </p:nvSpPr>
          <p:spPr>
            <a:xfrm>
              <a:off x="142875" y="95250"/>
              <a:ext cx="3619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38BDF8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ACTION 01</a:t>
              </a:r>
              <a:endParaRPr b="0" sz="1200">
                <a:solidFill>
                  <a:srgbClr val="38BDF8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22C55E"/>
                  </a:solidFill>
                  <a:latin typeface="Inter"/>
                  <a:ea typeface="Inter"/>
                  <a:cs typeface="Inter"/>
                  <a:sym typeface="Inter"/>
                </a:rPr>
                <a:t>Increase bike availability</a:t>
              </a:r>
              <a:r>
                <a:rPr b="0" lang="en" sz="1050">
                  <a:solidFill>
                    <a:srgbClr val="F8F8F2"/>
                  </a:solidFill>
                  <a:latin typeface="Inter"/>
                  <a:ea typeface="Inter"/>
                  <a:cs typeface="Inter"/>
                  <a:sym typeface="Inter"/>
                </a:rPr>
                <a:t> and support at 17:00–18:00, Wednesday to Friday, and during Fall.</a:t>
              </a:r>
              <a:endParaRPr b="0" sz="1050">
                <a:solidFill>
                  <a:srgbClr val="F8F8F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27" name="Google Shape;327;p28"/>
          <p:cNvGrpSpPr/>
          <p:nvPr/>
        </p:nvGrpSpPr>
        <p:grpSpPr>
          <a:xfrm>
            <a:off x="4667250" y="1238250"/>
            <a:ext cx="3905400" cy="1047900"/>
            <a:chOff x="0" y="0"/>
            <a:chExt cx="3905400" cy="1047900"/>
          </a:xfrm>
        </p:grpSpPr>
        <p:sp>
          <p:nvSpPr>
            <p:cNvPr id="328" name="Google Shape;328;p28"/>
            <p:cNvSpPr/>
            <p:nvPr/>
          </p:nvSpPr>
          <p:spPr>
            <a:xfrm>
              <a:off x="0" y="0"/>
              <a:ext cx="3905400" cy="1047900"/>
            </a:xfrm>
            <a:prstGeom prst="roundRect">
              <a:avLst>
                <a:gd fmla="val 7272" name="adj"/>
              </a:avLst>
            </a:prstGeom>
            <a:solidFill>
              <a:srgbClr val="1E293B">
                <a:alpha val="60000"/>
              </a:srgbClr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28"/>
            <p:cNvSpPr txBox="1"/>
            <p:nvPr/>
          </p:nvSpPr>
          <p:spPr>
            <a:xfrm>
              <a:off x="142875" y="95250"/>
              <a:ext cx="3619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38BDF8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ACTION 02</a:t>
              </a:r>
              <a:endParaRPr b="0" sz="1200">
                <a:solidFill>
                  <a:srgbClr val="38BDF8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22C55E"/>
                  </a:solidFill>
                  <a:latin typeface="Inter"/>
                  <a:ea typeface="Inter"/>
                  <a:cs typeface="Inter"/>
                  <a:sym typeface="Inter"/>
                </a:rPr>
                <a:t>Expand fleet capacity</a:t>
              </a:r>
              <a:r>
                <a:rPr b="0" lang="en" sz="1050">
                  <a:solidFill>
                    <a:srgbClr val="F8F8F2"/>
                  </a:solidFill>
                  <a:latin typeface="Inter"/>
                  <a:ea typeface="Inter"/>
                  <a:cs typeface="Inter"/>
                  <a:sym typeface="Inter"/>
                </a:rPr>
                <a:t> from May to September, particularly in Sept, scheduling winter maintenance.</a:t>
              </a:r>
              <a:endParaRPr b="0" sz="1050">
                <a:solidFill>
                  <a:srgbClr val="F8F8F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30" name="Google Shape;330;p28"/>
          <p:cNvGrpSpPr/>
          <p:nvPr/>
        </p:nvGrpSpPr>
        <p:grpSpPr>
          <a:xfrm>
            <a:off x="476250" y="2428875"/>
            <a:ext cx="3905400" cy="1047900"/>
            <a:chOff x="0" y="0"/>
            <a:chExt cx="3905400" cy="1047900"/>
          </a:xfrm>
        </p:grpSpPr>
        <p:sp>
          <p:nvSpPr>
            <p:cNvPr id="331" name="Google Shape;331;p28"/>
            <p:cNvSpPr/>
            <p:nvPr/>
          </p:nvSpPr>
          <p:spPr>
            <a:xfrm>
              <a:off x="0" y="0"/>
              <a:ext cx="3905400" cy="1047900"/>
            </a:xfrm>
            <a:prstGeom prst="roundRect">
              <a:avLst>
                <a:gd fmla="val 7272" name="adj"/>
              </a:avLst>
            </a:prstGeom>
            <a:solidFill>
              <a:srgbClr val="1E293B">
                <a:alpha val="60000"/>
              </a:srgbClr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28"/>
            <p:cNvSpPr txBox="1"/>
            <p:nvPr/>
          </p:nvSpPr>
          <p:spPr>
            <a:xfrm>
              <a:off x="142875" y="95250"/>
              <a:ext cx="3619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38BDF8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ACTION 03</a:t>
              </a:r>
              <a:endParaRPr b="0" sz="1200">
                <a:solidFill>
                  <a:srgbClr val="38BDF8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22C55E"/>
                  </a:solidFill>
                  <a:latin typeface="Inter"/>
                  <a:ea typeface="Inter"/>
                  <a:cs typeface="Inter"/>
                  <a:sym typeface="Inter"/>
                </a:rPr>
                <a:t>Leverage weather forecasts</a:t>
              </a:r>
              <a:r>
                <a:rPr b="0" lang="en" sz="1050">
                  <a:solidFill>
                    <a:srgbClr val="F8F8F2"/>
                  </a:solidFill>
                  <a:latin typeface="Inter"/>
                  <a:ea typeface="Inter"/>
                  <a:cs typeface="Inter"/>
                  <a:sym typeface="Inter"/>
                </a:rPr>
                <a:t> to dynamically adjust bike distribution for rain, snow, or clear skies.</a:t>
              </a:r>
              <a:endParaRPr b="0" sz="1050">
                <a:solidFill>
                  <a:srgbClr val="F8F8F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33" name="Google Shape;333;p28"/>
          <p:cNvGrpSpPr/>
          <p:nvPr/>
        </p:nvGrpSpPr>
        <p:grpSpPr>
          <a:xfrm>
            <a:off x="4667250" y="2428875"/>
            <a:ext cx="3905400" cy="1047900"/>
            <a:chOff x="0" y="0"/>
            <a:chExt cx="3905400" cy="1047900"/>
          </a:xfrm>
        </p:grpSpPr>
        <p:sp>
          <p:nvSpPr>
            <p:cNvPr id="334" name="Google Shape;334;p28"/>
            <p:cNvSpPr/>
            <p:nvPr/>
          </p:nvSpPr>
          <p:spPr>
            <a:xfrm>
              <a:off x="0" y="0"/>
              <a:ext cx="3905400" cy="1047900"/>
            </a:xfrm>
            <a:prstGeom prst="roundRect">
              <a:avLst>
                <a:gd fmla="val 7272" name="adj"/>
              </a:avLst>
            </a:prstGeom>
            <a:solidFill>
              <a:srgbClr val="1E293B">
                <a:alpha val="60000"/>
              </a:srgbClr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28"/>
            <p:cNvSpPr txBox="1"/>
            <p:nvPr/>
          </p:nvSpPr>
          <p:spPr>
            <a:xfrm>
              <a:off x="142875" y="95250"/>
              <a:ext cx="3619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38BDF8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ACTION 04</a:t>
              </a:r>
              <a:endParaRPr b="0" sz="1200">
                <a:solidFill>
                  <a:srgbClr val="38BDF8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22C55E"/>
                  </a:solidFill>
                  <a:latin typeface="Inter"/>
                  <a:ea typeface="Inter"/>
                  <a:cs typeface="Inter"/>
                  <a:sym typeface="Inter"/>
                </a:rPr>
                <a:t>Prioritize temperature</a:t>
              </a:r>
              <a:r>
                <a:rPr b="0" lang="en" sz="1050">
                  <a:solidFill>
                    <a:srgbClr val="F8F8F2"/>
                  </a:solidFill>
                  <a:latin typeface="Inter"/>
                  <a:ea typeface="Inter"/>
                  <a:cs typeface="Inter"/>
                  <a:sym typeface="Inter"/>
                </a:rPr>
                <a:t> as the primary variable in forecasting models, backed by humidity and wind.</a:t>
              </a:r>
              <a:endParaRPr b="0" sz="1050">
                <a:solidFill>
                  <a:srgbClr val="F8F8F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36" name="Google Shape;336;p28"/>
          <p:cNvGrpSpPr/>
          <p:nvPr/>
        </p:nvGrpSpPr>
        <p:grpSpPr>
          <a:xfrm>
            <a:off x="476250" y="3619500"/>
            <a:ext cx="3905400" cy="1047900"/>
            <a:chOff x="0" y="0"/>
            <a:chExt cx="3905400" cy="1047900"/>
          </a:xfrm>
        </p:grpSpPr>
        <p:sp>
          <p:nvSpPr>
            <p:cNvPr id="337" name="Google Shape;337;p28"/>
            <p:cNvSpPr/>
            <p:nvPr/>
          </p:nvSpPr>
          <p:spPr>
            <a:xfrm>
              <a:off x="0" y="0"/>
              <a:ext cx="3905400" cy="1047900"/>
            </a:xfrm>
            <a:prstGeom prst="roundRect">
              <a:avLst>
                <a:gd fmla="val 7272" name="adj"/>
              </a:avLst>
            </a:prstGeom>
            <a:solidFill>
              <a:srgbClr val="1E293B">
                <a:alpha val="60000"/>
              </a:srgbClr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28"/>
            <p:cNvSpPr txBox="1"/>
            <p:nvPr/>
          </p:nvSpPr>
          <p:spPr>
            <a:xfrm>
              <a:off x="142875" y="95250"/>
              <a:ext cx="3619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38BDF8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ACTION 05</a:t>
              </a:r>
              <a:endParaRPr b="0" sz="1200">
                <a:solidFill>
                  <a:srgbClr val="38BDF8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22C55E"/>
                  </a:solidFill>
                  <a:latin typeface="Inter"/>
                  <a:ea typeface="Inter"/>
                  <a:cs typeface="Inter"/>
                  <a:sym typeface="Inter"/>
                </a:rPr>
                <a:t>Targeted user promotions</a:t>
              </a:r>
              <a:r>
                <a:rPr b="0" lang="en" sz="1050">
                  <a:solidFill>
                    <a:srgbClr val="F8F8F2"/>
                  </a:solidFill>
                  <a:latin typeface="Inter"/>
                  <a:ea typeface="Inter"/>
                  <a:cs typeface="Inter"/>
                  <a:sym typeface="Inter"/>
                </a:rPr>
                <a:t> offering weekday benefits for registered users and weekend casual passes.</a:t>
              </a:r>
              <a:endParaRPr b="0" sz="1050">
                <a:solidFill>
                  <a:srgbClr val="F8F8F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39" name="Google Shape;339;p28"/>
          <p:cNvGrpSpPr/>
          <p:nvPr/>
        </p:nvGrpSpPr>
        <p:grpSpPr>
          <a:xfrm>
            <a:off x="4667250" y="3619500"/>
            <a:ext cx="3905400" cy="1047900"/>
            <a:chOff x="0" y="0"/>
            <a:chExt cx="3905400" cy="1047900"/>
          </a:xfrm>
        </p:grpSpPr>
        <p:sp>
          <p:nvSpPr>
            <p:cNvPr id="340" name="Google Shape;340;p28"/>
            <p:cNvSpPr/>
            <p:nvPr/>
          </p:nvSpPr>
          <p:spPr>
            <a:xfrm>
              <a:off x="0" y="0"/>
              <a:ext cx="3905400" cy="1047900"/>
            </a:xfrm>
            <a:prstGeom prst="roundRect">
              <a:avLst>
                <a:gd fmla="val 7272" name="adj"/>
              </a:avLst>
            </a:prstGeom>
            <a:solidFill>
              <a:srgbClr val="1E293B">
                <a:alpha val="60000"/>
              </a:srgbClr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28"/>
            <p:cNvSpPr txBox="1"/>
            <p:nvPr/>
          </p:nvSpPr>
          <p:spPr>
            <a:xfrm>
              <a:off x="142875" y="95250"/>
              <a:ext cx="3619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38BDF8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ACTION 06</a:t>
              </a:r>
              <a:endParaRPr b="0" sz="1200">
                <a:solidFill>
                  <a:srgbClr val="38BDF8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22C55E"/>
                  </a:solidFill>
                  <a:latin typeface="Inter"/>
                  <a:ea typeface="Inter"/>
                  <a:cs typeface="Inter"/>
                  <a:sym typeface="Inter"/>
                </a:rPr>
                <a:t>Strengthen member retention</a:t>
              </a:r>
              <a:r>
                <a:rPr b="0" lang="en" sz="1050">
                  <a:solidFill>
                    <a:srgbClr val="F8F8F2"/>
                  </a:solidFill>
                  <a:latin typeface="Inter"/>
                  <a:ea typeface="Inter"/>
                  <a:cs typeface="Inter"/>
                  <a:sym typeface="Inter"/>
                </a:rPr>
                <a:t> through structured loyalty rewards and conversion of casual riders.</a:t>
              </a:r>
              <a:endParaRPr b="0" sz="1050">
                <a:solidFill>
                  <a:srgbClr val="F8F8F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